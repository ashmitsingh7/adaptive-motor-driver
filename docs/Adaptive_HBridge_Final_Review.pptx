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6" r:id="rId37"/>
    <p:sldId id="287" r:id="rId38"/>
    <p:sldId id="262" r:id="rId8"/>
    <p:sldId id="263" r:id="rId9"/>
    <p:sldId id="264" r:id="rId10"/>
    <p:sldId id="282" r:id="rId33"/>
    <p:sldId id="265" r:id="rId11"/>
    <p:sldId id="266" r:id="rId12"/>
    <p:sldId id="267" r:id="rId13"/>
    <p:sldId id="283" r:id="rId34"/>
    <p:sldId id="268" r:id="rId14"/>
    <p:sldId id="269" r:id="rId15"/>
    <p:sldId id="270" r:id="rId16"/>
    <p:sldId id="284" r:id="rId35"/>
    <p:sldId id="271" r:id="rId17"/>
    <p:sldId id="272" r:id="rId18"/>
    <p:sldId id="273" r:id="rId19"/>
    <p:sldId id="285" r:id="rId36"/>
    <p:sldId id="274" r:id="rId20"/>
    <p:sldId id="276" r:id="rId22"/>
    <p:sldId id="277" r:id="rId23"/>
    <p:sldId id="288" r:id="rId39"/>
    <p:sldId id="278" r:id="rId24"/>
    <p:sldId id="279" r:id="rId25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d1bc076-beec-ae5f-4f12-2c59fc4e2142}">
          <p14:sldIdLst>
            <p14:sldId id="256"/>
          </p14:sldIdLst>
        </p14:section>
        <p14:section name="Background and literature" id="{c475c9d6-9af7-d4c8-8162-3dc75e729c8b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roposed design and schematics" id="{bc8cd2f3-3902-d1f2-1d9b-0100a7cfc659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Results and comparison" id="{66630eb8-2d25-8a04-8164-454491ebac51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1.xml"/><Relationship Id="rId18" Type="http://schemas.openxmlformats.org/officeDocument/2006/relationships/slide" Target="slides/slide22.xml"/><Relationship Id="rId19" Type="http://schemas.openxmlformats.org/officeDocument/2006/relationships/slide" Target="slides/slide23.xml"/><Relationship Id="rId20" Type="http://schemas.openxmlformats.org/officeDocument/2006/relationships/slide" Target="slides/slide25.xml"/><Relationship Id="rId22" Type="http://schemas.openxmlformats.org/officeDocument/2006/relationships/slide" Target="slides/slide26.xml"/><Relationship Id="rId23" Type="http://schemas.openxmlformats.org/officeDocument/2006/relationships/slide" Target="slides/slide27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2.xml"/><Relationship Id="rId34" Type="http://schemas.openxmlformats.org/officeDocument/2006/relationships/slide" Target="slides/slide16.xml"/><Relationship Id="rId35" Type="http://schemas.openxmlformats.org/officeDocument/2006/relationships/slide" Target="slides/slide20.xml"/><Relationship Id="rId36" Type="http://schemas.openxmlformats.org/officeDocument/2006/relationships/slide" Target="slides/slide24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adaptive H-bridge motor driver whose PWM duty responds to sensed load current. Reviews 1 and 2 cover: literature review, limitations and how we resolve them, the proposed design and schematics, simulation results, and comparison with previous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(1-5 A, 6-24 V) come from the review slides and are design targets, not measured results. The idea is to close the loop from sensed current to PWM duty inside the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review slides. Our proposed architecture is the fourth column: it keeps the integrated protection of column 2 and the current feedback of column 3, and adds load-aware PWM.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per paper. Papers 1-2 show integration, paper 3 high-side drive and dead-time, paper 4 on-chip current sensing, paper 5 adaptive dead-time. Check each specification against the original paper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paper: what it shows and the gap relative to our goal. Common gap: none of them adapt the drive to load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5 DOI: 10.1016/j.mejo.2025.106937 (Microelectronics Journal, vol. 167, 2026). The 7.4 % figure is from that paper (power vs fixed dead-time). Our extension is current-sensed load-aware PWM.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review email asks for: limitations found and how to resolve them. Each right-hand item maps to a block in our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novelty carefully: it is a proposed extension based on five papers; a wider search is still needed before claiming novelty in the final IEEE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loop: PWM request goes through ADAPTIVE_PWM, GATE_DRIVER and HBRIDGE to the motor. The shunt in the bridge return feeds CURRENT_SENSE, SENSE_AMPLIFIER and OC_COMPARATOR; VSENSE_AMP also feeds back to ADAPTIVE_PWM. FAULT_LOGIC merges overcurrent, UVLO and the reserved OTP flag and disables the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Four-switch bridge: two PMOS high side, two NMOS low side. Truth table is for the gate signals produced by GATE_DRIVER. Device models must come from the PDK; sizes are not yet chosen.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 A shown; leg B is identical with PWM_B. The delayed copy of the PWM (Pd) is combined with the original so each transition waits one delay before the incoming device turns on. Values are assumed, not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the dead-time both devices of the leg are off, which prevents shoot-through. The delay must be matched to the real switching time of the chosen MOSFETs.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shunt sits in the bridge ground return with a Kelvin tap. The passive filter delays overcurrent detection by about 47 microseconds. The amplifier needs a rail-to-rail single-supply op-amp whose input range includes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comparators use positive feedback for hysteresis. UVLO needs a clamp diode because the divider node would exceed VDD at 24 V. Check: the 8 V lockout conflicts with the 6-24 V supply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OTP_FAULT is reserved: no temperature sensor exists yet, so it is tied low. Latching is a design choice that is not in the supplied schematic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of ADAPTIVE_PWM. The low-pass converts the input PWM to an average duty command. At the 1.65 A trip level the error has already removed 2.25 V (about 68 % of full scale). The low-pass corner is about 160 Hz, so response to duty changes is slow; a faster duty extraction is possible later. V_LIM and the clamp are assumed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2: comparator against a ramp produces the effective PWM; steering logic gives sign-magnitude drive with the other leg held low. Dead-time and complementary switching are enforced by the gate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Symbol-level view of ADAPTIVE_HBRIDGE_TOP: same-name stubs are the same net. The shunt top is the H-bridge ground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documented values come from our files and assumed values were chosen to close the circuits. The two checks are open design decisions to settle before the final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three frames with simulated waveforms only. Annotate measured dead-time and ripple, and compare with the check-against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plots the review email asks for: all simulation results of the proposed work. Add current-limit comparison with and without adaptation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review email asks for comparison with previous work. Our differentiator is load-adaptive PWM from sensed current for robotic DC actuators. Note honestly: dead-time is fixed in the current design and OTP is reserved, not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the gap, the proposed architecture, what remains: simulation, comparison confirmation, IEEE paper for the final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venue and DOI for references 1-4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C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BF"/>
                </a:solidFill>
              </a:rPr>
              <a:t>Adaptive H-Bridge Motor Driver  |  Lab Project Review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0"/>
                </a:solidFill>
              </a:rPr>
              <a:t>Adaptive H-Bridge Motor Driver  |  Lab Project Review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Load-Aware Adaptive H-Bridge Motor Driver for Robotic Actuators</a:t>
            </a:r>
            <a:endParaRPr lang="en-US" sz="4000" dirty="0"/>
          </a:p>
        </p:txBody>
      </p:sp>
      <p:sp>
        <p:nvSpPr>
          <p:cNvPr id="3" name="text-1"/>
          <p:cNvSpPr txBox="1"/>
          <p:nvPr/>
        </p:nvSpPr>
        <p:spPr>
          <a:xfrm>
            <a:off x="640080" y="3520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A33C"/>
                </a:solidFill>
              </a:rPr>
              <a:t>Final Project Review  |  23 October 2026</a:t>
            </a:r>
            <a:endParaRPr lang="en-US" sz="1800" dirty="0"/>
          </a:p>
        </p:txBody>
      </p:sp>
      <p:sp>
        <p:nvSpPr>
          <p:cNvPr id="4" name="text-2"/>
          <p:cNvSpPr txBox="1"/>
          <p:nvPr/>
        </p:nvSpPr>
        <p:spPr>
          <a:xfrm>
            <a:off x="640080" y="41148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1E8"/>
                </a:solidFill>
              </a:rPr>
              <a:t>Ashmit Singh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5E1E8"/>
                </a:solidFill>
              </a:rPr>
              <a:t>B.Tech Electronics Engineering (VLSI Design &amp; Technology), VIT Vellore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5E1E8"/>
                </a:solidFill>
              </a:rPr>
              <a:t>Faculty: Anil Kumar Rajput</a:t>
            </a:r>
            <a:endParaRPr lang="en-US" sz="1600" dirty="0"/>
          </a:p>
        </p:txBody>
      </p:sp>
      <p:sp>
        <p:nvSpPr>
          <p:cNvPr id="5" name="motif-3"/>
          <p:cNvSpPr/>
          <p:nvPr/>
        </p:nvSpPr>
        <p:spPr>
          <a:xfrm>
            <a:off x="8321040" y="1463040"/>
            <a:ext cx="3200400" cy="1097280"/>
          </a:xfrm>
          <a:prstGeom prst="roundRect">
            <a:avLst>
              <a:gd name="adj" fmla="val 8333"/>
            </a:avLst>
          </a:prstGeom>
          <a:solidFill>
            <a:srgbClr val="123A4D"/>
          </a:solidFill>
          <a:ln w="19050">
            <a:solidFill>
              <a:srgbClr val="1B8A8F"/>
            </a:solidFill>
            <a:prstDash val="solid"/>
          </a:ln>
        </p:spPr>
      </p:sp>
      <p:sp>
        <p:nvSpPr>
          <p:cNvPr id="6" name="text-4"/>
          <p:cNvSpPr txBox="1"/>
          <p:nvPr/>
        </p:nvSpPr>
        <p:spPr>
          <a:xfrm>
            <a:off x="854964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8A8F"/>
                </a:solidFill>
              </a:rPr>
              <a:t>SENSE</a:t>
            </a:r>
            <a:endParaRPr lang="en-US" sz="2000" dirty="0"/>
          </a:p>
        </p:txBody>
      </p:sp>
      <p:sp>
        <p:nvSpPr>
          <p:cNvPr id="7" name="text-5"/>
          <p:cNvSpPr txBox="1"/>
          <p:nvPr/>
        </p:nvSpPr>
        <p:spPr>
          <a:xfrm>
            <a:off x="854964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1E8"/>
                </a:solidFill>
              </a:rPr>
              <a:t>Shunt current to voltage</a:t>
            </a:r>
            <a:endParaRPr lang="en-US" sz="1400" dirty="0"/>
          </a:p>
        </p:txBody>
      </p:sp>
      <p:sp>
        <p:nvSpPr>
          <p:cNvPr id="8" name="arrow-6"/>
          <p:cNvSpPr/>
          <p:nvPr/>
        </p:nvSpPr>
        <p:spPr>
          <a:xfrm>
            <a:off x="9921240" y="2560320"/>
            <a:ext cx="0" cy="365760"/>
          </a:xfrm>
          <a:prstGeom prst="line">
            <a:avLst/>
          </a:prstGeom>
          <a:noFill/>
          <a:ln w="22225">
            <a:solidFill>
              <a:srgbClr val="5F7280"/>
            </a:solidFill>
            <a:prstDash val="solid"/>
            <a:tailEnd type="triangle"/>
          </a:ln>
        </p:spPr>
      </p:sp>
      <p:sp>
        <p:nvSpPr>
          <p:cNvPr id="9" name="motif-7"/>
          <p:cNvSpPr/>
          <p:nvPr/>
        </p:nvSpPr>
        <p:spPr>
          <a:xfrm>
            <a:off x="8321040" y="2926080"/>
            <a:ext cx="3200400" cy="1097280"/>
          </a:xfrm>
          <a:prstGeom prst="roundRect">
            <a:avLst>
              <a:gd name="adj" fmla="val 8333"/>
            </a:avLst>
          </a:prstGeom>
          <a:solidFill>
            <a:srgbClr val="123A4D"/>
          </a:solidFill>
          <a:ln w="19050">
            <a:solidFill>
              <a:srgbClr val="F0A33C"/>
            </a:solidFill>
            <a:prstDash val="solid"/>
          </a:ln>
        </p:spPr>
      </p:sp>
      <p:sp>
        <p:nvSpPr>
          <p:cNvPr id="10" name="text-8"/>
          <p:cNvSpPr txBox="1"/>
          <p:nvPr/>
        </p:nvSpPr>
        <p:spPr>
          <a:xfrm>
            <a:off x="854964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0A33C"/>
                </a:solidFill>
              </a:rPr>
              <a:t>ADAPT</a:t>
            </a:r>
            <a:endParaRPr lang="en-US" sz="2000" dirty="0"/>
          </a:p>
        </p:txBody>
      </p:sp>
      <p:sp>
        <p:nvSpPr>
          <p:cNvPr id="11" name="text-9"/>
          <p:cNvSpPr txBox="1"/>
          <p:nvPr/>
        </p:nvSpPr>
        <p:spPr>
          <a:xfrm>
            <a:off x="854964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1E8"/>
                </a:solidFill>
              </a:rPr>
              <a:t>Duty follows load current</a:t>
            </a:r>
            <a:endParaRPr lang="en-US" sz="1400" dirty="0"/>
          </a:p>
        </p:txBody>
      </p:sp>
      <p:sp>
        <p:nvSpPr>
          <p:cNvPr id="12" name="arrow-10"/>
          <p:cNvSpPr/>
          <p:nvPr/>
        </p:nvSpPr>
        <p:spPr>
          <a:xfrm>
            <a:off x="9921240" y="4023360"/>
            <a:ext cx="0" cy="365760"/>
          </a:xfrm>
          <a:prstGeom prst="line">
            <a:avLst/>
          </a:prstGeom>
          <a:noFill/>
          <a:ln w="22225">
            <a:solidFill>
              <a:srgbClr val="5F7280"/>
            </a:solidFill>
            <a:prstDash val="solid"/>
            <a:tailEnd type="triangle"/>
          </a:ln>
        </p:spPr>
      </p:sp>
      <p:sp>
        <p:nvSpPr>
          <p:cNvPr id="13" name="motif-11"/>
          <p:cNvSpPr/>
          <p:nvPr/>
        </p:nvSpPr>
        <p:spPr>
          <a:xfrm>
            <a:off x="8321040" y="4389120"/>
            <a:ext cx="3200400" cy="1097280"/>
          </a:xfrm>
          <a:prstGeom prst="roundRect">
            <a:avLst>
              <a:gd name="adj" fmla="val 8333"/>
            </a:avLst>
          </a:prstGeom>
          <a:solidFill>
            <a:srgbClr val="123A4D"/>
          </a:solidFill>
          <a:ln w="19050">
            <a:solidFill>
              <a:srgbClr val="2F6DB5"/>
            </a:solidFill>
            <a:prstDash val="solid"/>
          </a:ln>
        </p:spPr>
      </p:sp>
      <p:sp>
        <p:nvSpPr>
          <p:cNvPr id="14" name="text-12"/>
          <p:cNvSpPr txBox="1"/>
          <p:nvPr/>
        </p:nvSpPr>
        <p:spPr>
          <a:xfrm>
            <a:off x="854964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6DB5"/>
                </a:solidFill>
              </a:rPr>
              <a:t>DRIVE</a:t>
            </a:r>
            <a:endParaRPr lang="en-US" sz="2000" dirty="0"/>
          </a:p>
        </p:txBody>
      </p:sp>
      <p:sp>
        <p:nvSpPr>
          <p:cNvPr id="15" name="text-13"/>
          <p:cNvSpPr txBox="1"/>
          <p:nvPr/>
        </p:nvSpPr>
        <p:spPr>
          <a:xfrm>
            <a:off x="854964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1E8"/>
                </a:solidFill>
              </a:rPr>
              <a:t>H-bridge with dead-time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robotic actuators need an adaptive driver</a:t>
            </a:r>
            <a:endParaRPr lang="en-US" sz="3000" dirty="0"/>
          </a:p>
        </p:txBody>
      </p:sp>
      <p:sp>
        <p:nvSpPr>
          <p:cNvPr id="3" name="card-14"/>
          <p:cNvSpPr/>
          <p:nvPr/>
        </p:nvSpPr>
        <p:spPr>
          <a:xfrm>
            <a:off x="548640" y="13258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4" name="text-15"/>
          <p:cNvSpPr txBox="1"/>
          <p:nvPr/>
        </p:nvSpPr>
        <p:spPr>
          <a:xfrm>
            <a:off x="731520" y="1463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0.6-1.7 A</a:t>
            </a:r>
            <a:endParaRPr lang="en-US" sz="4000" dirty="0"/>
          </a:p>
        </p:txBody>
      </p:sp>
      <p:sp>
        <p:nvSpPr>
          <p:cNvPr id="5" name="text-16"/>
          <p:cNvSpPr txBox="1"/>
          <p:nvPr/>
        </p:nvSpPr>
        <p:spPr>
          <a:xfrm>
            <a:off x="73152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C2431"/>
                </a:solidFill>
              </a:rPr>
              <a:t>motor current range in the adaptive run</a:t>
            </a:r>
            <a:endParaRPr lang="en-US" sz="1400" dirty="0"/>
          </a:p>
        </p:txBody>
      </p:sp>
      <p:sp>
        <p:nvSpPr>
          <p:cNvPr id="6" name="card-17"/>
          <p:cNvSpPr/>
          <p:nvPr/>
        </p:nvSpPr>
        <p:spPr>
          <a:xfrm>
            <a:off x="3364992" y="13258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7" name="text-18"/>
          <p:cNvSpPr txBox="1"/>
          <p:nvPr/>
        </p:nvSpPr>
        <p:spPr>
          <a:xfrm>
            <a:off x="3547872" y="1463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V</a:t>
            </a:r>
            <a:endParaRPr lang="en-US" sz="4000" dirty="0"/>
          </a:p>
        </p:txBody>
      </p:sp>
      <p:sp>
        <p:nvSpPr>
          <p:cNvPr id="8" name="text-19"/>
          <p:cNvSpPr txBox="1"/>
          <p:nvPr/>
        </p:nvSpPr>
        <p:spPr>
          <a:xfrm>
            <a:off x="3547872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C2431"/>
                </a:solidFill>
              </a:rPr>
              <a:t>gpdk090 simulation supply</a:t>
            </a:r>
            <a:endParaRPr lang="en-US" sz="1400" dirty="0"/>
          </a:p>
        </p:txBody>
      </p:sp>
      <p:sp>
        <p:nvSpPr>
          <p:cNvPr id="9" name="card-20"/>
          <p:cNvSpPr/>
          <p:nvPr/>
        </p:nvSpPr>
        <p:spPr>
          <a:xfrm>
            <a:off x="6181344" y="13258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10" name="text-21"/>
          <p:cNvSpPr txBox="1"/>
          <p:nvPr/>
        </p:nvSpPr>
        <p:spPr>
          <a:xfrm>
            <a:off x="6364224" y="1463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85→35 %</a:t>
            </a:r>
            <a:endParaRPr lang="en-US" sz="4000" dirty="0"/>
          </a:p>
        </p:txBody>
      </p:sp>
      <p:sp>
        <p:nvSpPr>
          <p:cNvPr id="11" name="text-22"/>
          <p:cNvSpPr txBox="1"/>
          <p:nvPr/>
        </p:nvSpPr>
        <p:spPr>
          <a:xfrm>
            <a:off x="6364224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C2431"/>
                </a:solidFill>
              </a:rPr>
              <a:t>PWM duty as load rises (read from plot)</a:t>
            </a:r>
            <a:endParaRPr lang="en-US" sz="1400" dirty="0"/>
          </a:p>
        </p:txBody>
      </p:sp>
      <p:sp>
        <p:nvSpPr>
          <p:cNvPr id="12" name="card-23"/>
          <p:cNvSpPr/>
          <p:nvPr/>
        </p:nvSpPr>
        <p:spPr>
          <a:xfrm>
            <a:off x="8997696" y="13258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13" name="text-24"/>
          <p:cNvSpPr txBox="1"/>
          <p:nvPr/>
        </p:nvSpPr>
        <p:spPr>
          <a:xfrm>
            <a:off x="9180576" y="1463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A5B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4" name="text-25"/>
          <p:cNvSpPr txBox="1"/>
          <p:nvPr/>
        </p:nvSpPr>
        <p:spPr>
          <a:xfrm>
            <a:off x="9180576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C2431"/>
                </a:solidFill>
              </a:rPr>
              <a:t>instances under the top-level cell</a:t>
            </a:r>
            <a:endParaRPr lang="en-US" sz="1400" dirty="0"/>
          </a:p>
        </p:txBody>
      </p:sp>
      <p:sp>
        <p:nvSpPr>
          <p:cNvPr id="15" name="card-26"/>
          <p:cNvSpPr/>
          <p:nvPr/>
        </p:nvSpPr>
        <p:spPr>
          <a:xfrm>
            <a:off x="548640" y="3337560"/>
            <a:ext cx="5440680" cy="2880360"/>
          </a:xfrm>
          <a:prstGeom prst="roundRect">
            <a:avLst>
              <a:gd name="adj" fmla="val 2540"/>
            </a:avLst>
          </a:prstGeom>
          <a:solidFill>
            <a:srgbClr val="FBECE9"/>
          </a:solidFill>
          <a:ln w="9525">
            <a:solidFill>
              <a:srgbClr val="FBECE9"/>
            </a:solidFill>
            <a:prstDash val="solid"/>
          </a:ln>
        </p:spPr>
        <p:txBody>
          <a:bodyPr/>
          <a:p/>
        </p:txBody>
      </p:sp>
      <p:sp>
        <p:nvSpPr>
          <p:cNvPr id="16" name="text-27"/>
          <p:cNvSpPr txBox="1"/>
          <p:nvPr/>
        </p:nvSpPr>
        <p:spPr>
          <a:xfrm>
            <a:off x="77724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17" name="text-28"/>
          <p:cNvSpPr txBox="1"/>
          <p:nvPr/>
        </p:nvSpPr>
        <p:spPr>
          <a:xfrm>
            <a:off x="777240" y="3931920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Robot joints see variable, unpredictable loads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Fixed-duty PWM ignores the load current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Current limits are fixed or used only for protection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Adaptive ideas (e.g. dead-time) are studied separately from load-aware control</a:t>
            </a:r>
            <a:endParaRPr lang="en-US" sz="1700" dirty="0"/>
          </a:p>
        </p:txBody>
      </p:sp>
      <p:sp>
        <p:nvSpPr>
          <p:cNvPr id="18" name="card-29"/>
          <p:cNvSpPr/>
          <p:nvPr/>
        </p:nvSpPr>
        <p:spPr>
          <a:xfrm>
            <a:off x="6172200" y="3337560"/>
            <a:ext cx="5440680" cy="2880360"/>
          </a:xfrm>
          <a:prstGeom prst="roundRect">
            <a:avLst>
              <a:gd name="adj" fmla="val 2540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  <p:txBody>
          <a:bodyPr/>
          <a:p/>
        </p:txBody>
      </p:sp>
      <p:sp>
        <p:nvSpPr>
          <p:cNvPr id="19" name="text-30"/>
          <p:cNvSpPr txBox="1"/>
          <p:nvPr/>
        </p:nvSpPr>
        <p:spPr>
          <a:xfrm>
            <a:off x="640080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</a:t>
            </a:r>
            <a:endParaRPr lang="en-US" sz="2000" dirty="0"/>
          </a:p>
        </p:txBody>
      </p:sp>
      <p:sp>
        <p:nvSpPr>
          <p:cNvPr id="20" name="text-31"/>
          <p:cNvSpPr txBox="1"/>
          <p:nvPr/>
        </p:nvSpPr>
        <p:spPr>
          <a:xfrm>
            <a:off x="6400800" y="3931920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Sense motor current with a shunt and amplifier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Lower the duty as load current rises, before the hard overcurrent trip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Keep dead-time and UVLO / OCP protection in one hierarchy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motor-driver architectures evolved</a:t>
            </a:r>
            <a:endParaRPr lang="en-US" sz="3000" dirty="0"/>
          </a:p>
        </p:txBody>
      </p:sp>
      <p:sp>
        <p:nvSpPr>
          <p:cNvPr id="3" name="card-32"/>
          <p:cNvSpPr/>
          <p:nvPr/>
        </p:nvSpPr>
        <p:spPr>
          <a:xfrm>
            <a:off x="548640" y="1325880"/>
            <a:ext cx="2651760" cy="4892040"/>
          </a:xfrm>
          <a:prstGeom prst="roundRect">
            <a:avLst>
              <a:gd name="adj" fmla="val 2759"/>
            </a:avLst>
          </a:prstGeom>
          <a:solidFill>
            <a:srgbClr val="E6EEF8"/>
          </a:solidFill>
          <a:ln w="9525">
            <a:solidFill>
              <a:srgbClr val="E6EEF8"/>
            </a:solidFill>
            <a:prstDash val="solid"/>
          </a:ln>
        </p:spPr>
      </p:sp>
      <p:sp>
        <p:nvSpPr>
          <p:cNvPr id="4" name="num-33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2F6DB5"/>
          </a:solidFill>
          <a:ln w="6350">
            <a:solidFill>
              <a:srgbClr val="2F6DB5"/>
            </a:solidFill>
            <a:prstDash val="solid"/>
          </a:ln>
        </p:spPr>
      </p:sp>
      <p:sp>
        <p:nvSpPr>
          <p:cNvPr id="5" name="text-34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35"/>
          <p:cNvSpPr txBox="1"/>
          <p:nvPr/>
        </p:nvSpPr>
        <p:spPr>
          <a:xfrm>
            <a:off x="1325880" y="1481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 H-bridge</a:t>
            </a:r>
            <a:endParaRPr lang="en-US" sz="1600" dirty="0"/>
          </a:p>
        </p:txBody>
      </p:sp>
      <p:sp>
        <p:nvSpPr>
          <p:cNvPr id="7" name="text-36"/>
          <p:cNvSpPr txBox="1"/>
          <p:nvPr/>
        </p:nvSpPr>
        <p:spPr>
          <a:xfrm>
            <a:off x="1325880" y="18013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7280"/>
                </a:solidFill>
              </a:rPr>
              <a:t>Conventional</a:t>
            </a:r>
            <a:endParaRPr lang="en-US" sz="1200" dirty="0"/>
          </a:p>
        </p:txBody>
      </p:sp>
      <p:sp>
        <p:nvSpPr>
          <p:cNvPr id="8" name="text-37"/>
          <p:cNvSpPr txBox="1"/>
          <p:nvPr/>
        </p:nvSpPr>
        <p:spPr>
          <a:xfrm>
            <a:off x="73152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</a:rPr>
              <a:t>Strength</a:t>
            </a:r>
            <a:endParaRPr lang="en-US" sz="1300" dirty="0"/>
          </a:p>
        </p:txBody>
      </p:sp>
      <p:sp>
        <p:nvSpPr>
          <p:cNvPr id="9" name="text-38"/>
          <p:cNvSpPr txBox="1"/>
          <p:nvPr/>
        </p:nvSpPr>
        <p:spPr>
          <a:xfrm>
            <a:off x="73152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Flexible, high-current, easy to prototype</a:t>
            </a:r>
            <a:endParaRPr lang="en-US" sz="1400" dirty="0"/>
          </a:p>
        </p:txBody>
      </p:sp>
      <p:sp>
        <p:nvSpPr>
          <p:cNvPr id="10" name="text-39"/>
          <p:cNvSpPr txBox="1"/>
          <p:nvPr/>
        </p:nvSpPr>
        <p:spPr>
          <a:xfrm>
            <a:off x="73152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503F"/>
                </a:solidFill>
              </a:rPr>
              <a:t>Limit</a:t>
            </a:r>
            <a:endParaRPr lang="en-US" sz="1300" dirty="0"/>
          </a:p>
        </p:txBody>
      </p:sp>
      <p:sp>
        <p:nvSpPr>
          <p:cNvPr id="11" name="text-40"/>
          <p:cNvSpPr txBox="1"/>
          <p:nvPr/>
        </p:nvSpPr>
        <p:spPr>
          <a:xfrm>
            <a:off x="731520" y="4114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Many external parts; no adaptive features</a:t>
            </a:r>
            <a:endParaRPr lang="en-US" sz="1400" dirty="0"/>
          </a:p>
        </p:txBody>
      </p:sp>
      <p:sp>
        <p:nvSpPr>
          <p:cNvPr id="12" name="text-41"/>
          <p:cNvSpPr txBox="1"/>
          <p:nvPr/>
        </p:nvSpPr>
        <p:spPr>
          <a:xfrm>
            <a:off x="731520" y="5120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7280"/>
                </a:solidFill>
              </a:rPr>
              <a:t>Typical use</a:t>
            </a:r>
            <a:endParaRPr lang="en-US" sz="1300" dirty="0"/>
          </a:p>
        </p:txBody>
      </p:sp>
      <p:sp>
        <p:nvSpPr>
          <p:cNvPr id="13" name="text-42"/>
          <p:cNvSpPr txBox="1"/>
          <p:nvPr/>
        </p:nvSpPr>
        <p:spPr>
          <a:xfrm>
            <a:off x="731520" y="5394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Prototyping, high power</a:t>
            </a:r>
            <a:endParaRPr lang="en-US" sz="1400" dirty="0"/>
          </a:p>
        </p:txBody>
      </p:sp>
      <p:sp>
        <p:nvSpPr>
          <p:cNvPr id="14" name="card-43"/>
          <p:cNvSpPr/>
          <p:nvPr/>
        </p:nvSpPr>
        <p:spPr>
          <a:xfrm>
            <a:off x="3355848" y="1325880"/>
            <a:ext cx="2651760" cy="4892040"/>
          </a:xfrm>
          <a:prstGeom prst="roundRect">
            <a:avLst>
              <a:gd name="adj" fmla="val 2759"/>
            </a:avLst>
          </a:prstGeom>
          <a:solidFill>
            <a:srgbClr val="E3F3F3"/>
          </a:solidFill>
          <a:ln w="9525">
            <a:solidFill>
              <a:srgbClr val="E3F3F3"/>
            </a:solidFill>
            <a:prstDash val="solid"/>
          </a:ln>
        </p:spPr>
      </p:sp>
      <p:sp>
        <p:nvSpPr>
          <p:cNvPr id="15" name="num-44"/>
          <p:cNvSpPr/>
          <p:nvPr/>
        </p:nvSpPr>
        <p:spPr>
          <a:xfrm>
            <a:off x="3538728" y="1508760"/>
            <a:ext cx="457200" cy="457200"/>
          </a:xfrm>
          <a:prstGeom prst="ellipse">
            <a:avLst/>
          </a:prstGeom>
          <a:solidFill>
            <a:srgbClr val="1B8A8F"/>
          </a:solidFill>
          <a:ln w="6350">
            <a:solidFill>
              <a:srgbClr val="1B8A8F"/>
            </a:solidFill>
            <a:prstDash val="solid"/>
          </a:ln>
        </p:spPr>
      </p:sp>
      <p:sp>
        <p:nvSpPr>
          <p:cNvPr id="16" name="text-45"/>
          <p:cNvSpPr txBox="1"/>
          <p:nvPr/>
        </p:nvSpPr>
        <p:spPr>
          <a:xfrm>
            <a:off x="353872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-46"/>
          <p:cNvSpPr txBox="1"/>
          <p:nvPr/>
        </p:nvSpPr>
        <p:spPr>
          <a:xfrm>
            <a:off x="4133088" y="1481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IC</a:t>
            </a:r>
            <a:endParaRPr lang="en-US" sz="1600" dirty="0"/>
          </a:p>
        </p:txBody>
      </p:sp>
      <p:sp>
        <p:nvSpPr>
          <p:cNvPr id="18" name="text-47"/>
          <p:cNvSpPr txBox="1"/>
          <p:nvPr/>
        </p:nvSpPr>
        <p:spPr>
          <a:xfrm>
            <a:off x="4133088" y="18013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7280"/>
                </a:solidFill>
              </a:rPr>
              <a:t>Monolithic</a:t>
            </a:r>
            <a:endParaRPr lang="en-US" sz="1200" dirty="0"/>
          </a:p>
        </p:txBody>
      </p:sp>
      <p:sp>
        <p:nvSpPr>
          <p:cNvPr id="19" name="text-48"/>
          <p:cNvSpPr txBox="1"/>
          <p:nvPr/>
        </p:nvSpPr>
        <p:spPr>
          <a:xfrm>
            <a:off x="3538728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</a:rPr>
              <a:t>Strength</a:t>
            </a:r>
            <a:endParaRPr lang="en-US" sz="1300" dirty="0"/>
          </a:p>
        </p:txBody>
      </p:sp>
      <p:sp>
        <p:nvSpPr>
          <p:cNvPr id="20" name="text-49"/>
          <p:cNvSpPr txBox="1"/>
          <p:nvPr/>
        </p:nvSpPr>
        <p:spPr>
          <a:xfrm>
            <a:off x="3538728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Compact, protection built in</a:t>
            </a:r>
            <a:endParaRPr lang="en-US" sz="1400" dirty="0"/>
          </a:p>
        </p:txBody>
      </p:sp>
      <p:sp>
        <p:nvSpPr>
          <p:cNvPr id="21" name="text-50"/>
          <p:cNvSpPr txBox="1"/>
          <p:nvPr/>
        </p:nvSpPr>
        <p:spPr>
          <a:xfrm>
            <a:off x="3538728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503F"/>
                </a:solidFill>
              </a:rPr>
              <a:t>Limit</a:t>
            </a:r>
            <a:endParaRPr lang="en-US" sz="1300" dirty="0"/>
          </a:p>
        </p:txBody>
      </p:sp>
      <p:sp>
        <p:nvSpPr>
          <p:cNvPr id="22" name="text-51"/>
          <p:cNvSpPr txBox="1"/>
          <p:nvPr/>
        </p:nvSpPr>
        <p:spPr>
          <a:xfrm>
            <a:off x="3538728" y="4114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Fixed behavior; basic or no current sensing</a:t>
            </a:r>
            <a:endParaRPr lang="en-US" sz="1400" dirty="0"/>
          </a:p>
        </p:txBody>
      </p:sp>
      <p:sp>
        <p:nvSpPr>
          <p:cNvPr id="23" name="text-52"/>
          <p:cNvSpPr txBox="1"/>
          <p:nvPr/>
        </p:nvSpPr>
        <p:spPr>
          <a:xfrm>
            <a:off x="3538728" y="5120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7280"/>
                </a:solidFill>
              </a:rPr>
              <a:t>Typical use</a:t>
            </a:r>
            <a:endParaRPr lang="en-US" sz="1300" dirty="0"/>
          </a:p>
        </p:txBody>
      </p:sp>
      <p:sp>
        <p:nvSpPr>
          <p:cNvPr id="24" name="text-53"/>
          <p:cNvSpPr txBox="1"/>
          <p:nvPr/>
        </p:nvSpPr>
        <p:spPr>
          <a:xfrm>
            <a:off x="3538728" y="5394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Consumer, general purpose</a:t>
            </a:r>
            <a:endParaRPr lang="en-US" sz="1400" dirty="0"/>
          </a:p>
        </p:txBody>
      </p:sp>
      <p:sp>
        <p:nvSpPr>
          <p:cNvPr id="25" name="card-54"/>
          <p:cNvSpPr/>
          <p:nvPr/>
        </p:nvSpPr>
        <p:spPr>
          <a:xfrm>
            <a:off x="6163056" y="1325880"/>
            <a:ext cx="2651760" cy="4892040"/>
          </a:xfrm>
          <a:prstGeom prst="roundRect">
            <a:avLst>
              <a:gd name="adj" fmla="val 2759"/>
            </a:avLst>
          </a:prstGeom>
          <a:solidFill>
            <a:srgbClr val="EEE8F7"/>
          </a:solidFill>
          <a:ln w="9525">
            <a:solidFill>
              <a:srgbClr val="EEE8F7"/>
            </a:solidFill>
            <a:prstDash val="solid"/>
          </a:ln>
        </p:spPr>
      </p:sp>
      <p:sp>
        <p:nvSpPr>
          <p:cNvPr id="26" name="num-55"/>
          <p:cNvSpPr/>
          <p:nvPr/>
        </p:nvSpPr>
        <p:spPr>
          <a:xfrm>
            <a:off x="6345936" y="1508760"/>
            <a:ext cx="457200" cy="457200"/>
          </a:xfrm>
          <a:prstGeom prst="ellipse">
            <a:avLst/>
          </a:prstGeom>
          <a:solidFill>
            <a:srgbClr val="7A5BB5"/>
          </a:solidFill>
          <a:ln w="6350">
            <a:solidFill>
              <a:srgbClr val="7A5BB5"/>
            </a:solidFill>
            <a:prstDash val="solid"/>
          </a:ln>
        </p:spPr>
      </p:sp>
      <p:sp>
        <p:nvSpPr>
          <p:cNvPr id="27" name="text-56"/>
          <p:cNvSpPr txBox="1"/>
          <p:nvPr/>
        </p:nvSpPr>
        <p:spPr>
          <a:xfrm>
            <a:off x="634593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-57"/>
          <p:cNvSpPr txBox="1"/>
          <p:nvPr/>
        </p:nvSpPr>
        <p:spPr>
          <a:xfrm>
            <a:off x="6940296" y="1481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Current-regulated</a:t>
            </a:r>
            <a:endParaRPr lang="en-US" sz="1600" dirty="0"/>
          </a:p>
        </p:txBody>
      </p:sp>
      <p:sp>
        <p:nvSpPr>
          <p:cNvPr id="29" name="text-58"/>
          <p:cNvSpPr txBox="1"/>
          <p:nvPr/>
        </p:nvSpPr>
        <p:spPr>
          <a:xfrm>
            <a:off x="6940296" y="18013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7280"/>
                </a:solidFill>
              </a:rPr>
              <a:t>Closed loop</a:t>
            </a:r>
            <a:endParaRPr lang="en-US" sz="1200" dirty="0"/>
          </a:p>
        </p:txBody>
      </p:sp>
      <p:sp>
        <p:nvSpPr>
          <p:cNvPr id="30" name="text-59"/>
          <p:cNvSpPr txBox="1"/>
          <p:nvPr/>
        </p:nvSpPr>
        <p:spPr>
          <a:xfrm>
            <a:off x="6345936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</a:rPr>
              <a:t>Strength</a:t>
            </a:r>
            <a:endParaRPr lang="en-US" sz="1300" dirty="0"/>
          </a:p>
        </p:txBody>
      </p:sp>
      <p:sp>
        <p:nvSpPr>
          <p:cNvPr id="31" name="text-60"/>
          <p:cNvSpPr txBox="1"/>
          <p:nvPr/>
        </p:nvSpPr>
        <p:spPr>
          <a:xfrm>
            <a:off x="6345936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Limits current, better torque control</a:t>
            </a:r>
            <a:endParaRPr lang="en-US" sz="1400" dirty="0"/>
          </a:p>
        </p:txBody>
      </p:sp>
      <p:sp>
        <p:nvSpPr>
          <p:cNvPr id="32" name="text-61"/>
          <p:cNvSpPr txBox="1"/>
          <p:nvPr/>
        </p:nvSpPr>
        <p:spPr>
          <a:xfrm>
            <a:off x="6345936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503F"/>
                </a:solidFill>
              </a:rPr>
              <a:t>Limit</a:t>
            </a:r>
            <a:endParaRPr lang="en-US" sz="1300" dirty="0"/>
          </a:p>
        </p:txBody>
      </p:sp>
      <p:sp>
        <p:nvSpPr>
          <p:cNvPr id="33" name="text-62"/>
          <p:cNvSpPr txBox="1"/>
          <p:nvPr/>
        </p:nvSpPr>
        <p:spPr>
          <a:xfrm>
            <a:off x="6345936" y="4114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Fixed current limit; slow to adapt</a:t>
            </a:r>
            <a:endParaRPr lang="en-US" sz="1400" dirty="0"/>
          </a:p>
        </p:txBody>
      </p:sp>
      <p:sp>
        <p:nvSpPr>
          <p:cNvPr id="34" name="text-63"/>
          <p:cNvSpPr txBox="1"/>
          <p:nvPr/>
        </p:nvSpPr>
        <p:spPr>
          <a:xfrm>
            <a:off x="6345936" y="5120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7280"/>
                </a:solidFill>
              </a:rPr>
              <a:t>Typical use</a:t>
            </a:r>
            <a:endParaRPr lang="en-US" sz="1300" dirty="0"/>
          </a:p>
        </p:txBody>
      </p:sp>
      <p:sp>
        <p:nvSpPr>
          <p:cNvPr id="35" name="text-64"/>
          <p:cNvSpPr txBox="1"/>
          <p:nvPr/>
        </p:nvSpPr>
        <p:spPr>
          <a:xfrm>
            <a:off x="6345936" y="5394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Precision torque, stepper, BLDC</a:t>
            </a:r>
            <a:endParaRPr lang="en-US" sz="1400" dirty="0"/>
          </a:p>
        </p:txBody>
      </p:sp>
      <p:sp>
        <p:nvSpPr>
          <p:cNvPr id="36" name="card-65"/>
          <p:cNvSpPr/>
          <p:nvPr/>
        </p:nvSpPr>
        <p:spPr>
          <a:xfrm>
            <a:off x="8970264" y="1325880"/>
            <a:ext cx="2651760" cy="4892040"/>
          </a:xfrm>
          <a:prstGeom prst="roundRect">
            <a:avLst>
              <a:gd name="adj" fmla="val 2759"/>
            </a:avLst>
          </a:prstGeom>
          <a:solidFill>
            <a:srgbClr val="FDF1DC"/>
          </a:solidFill>
          <a:ln w="9525">
            <a:solidFill>
              <a:srgbClr val="FDF1DC"/>
            </a:solidFill>
            <a:prstDash val="solid"/>
          </a:ln>
        </p:spPr>
      </p:sp>
      <p:sp>
        <p:nvSpPr>
          <p:cNvPr id="37" name="num-66"/>
          <p:cNvSpPr/>
          <p:nvPr/>
        </p:nvSpPr>
        <p:spPr>
          <a:xfrm>
            <a:off x="9153144" y="1508760"/>
            <a:ext cx="457200" cy="457200"/>
          </a:xfrm>
          <a:prstGeom prst="ellipse">
            <a:avLst/>
          </a:prstGeom>
          <a:solidFill>
            <a:srgbClr val="F0A33C"/>
          </a:solidFill>
          <a:ln w="6350">
            <a:solidFill>
              <a:srgbClr val="F0A33C"/>
            </a:solidFill>
            <a:prstDash val="solid"/>
          </a:ln>
        </p:spPr>
      </p:sp>
      <p:sp>
        <p:nvSpPr>
          <p:cNvPr id="38" name="text-67"/>
          <p:cNvSpPr txBox="1"/>
          <p:nvPr/>
        </p:nvSpPr>
        <p:spPr>
          <a:xfrm>
            <a:off x="915314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-68"/>
          <p:cNvSpPr txBox="1"/>
          <p:nvPr/>
        </p:nvSpPr>
        <p:spPr>
          <a:xfrm>
            <a:off x="9747504" y="1481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/ adaptive</a:t>
            </a:r>
            <a:endParaRPr lang="en-US" sz="1600" dirty="0"/>
          </a:p>
        </p:txBody>
      </p:sp>
      <p:sp>
        <p:nvSpPr>
          <p:cNvPr id="40" name="text-69"/>
          <p:cNvSpPr txBox="1"/>
          <p:nvPr/>
        </p:nvSpPr>
        <p:spPr>
          <a:xfrm>
            <a:off x="9747504" y="18013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7280"/>
                </a:solidFill>
              </a:rPr>
              <a:t>Proposed</a:t>
            </a:r>
            <a:endParaRPr lang="en-US" sz="1200" dirty="0"/>
          </a:p>
        </p:txBody>
      </p:sp>
      <p:sp>
        <p:nvSpPr>
          <p:cNvPr id="41" name="text-70"/>
          <p:cNvSpPr txBox="1"/>
          <p:nvPr/>
        </p:nvSpPr>
        <p:spPr>
          <a:xfrm>
            <a:off x="9153144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</a:rPr>
              <a:t>Strength</a:t>
            </a:r>
            <a:endParaRPr lang="en-US" sz="1300" dirty="0"/>
          </a:p>
        </p:txBody>
      </p:sp>
      <p:sp>
        <p:nvSpPr>
          <p:cNvPr id="42" name="text-71"/>
          <p:cNvSpPr txBox="1"/>
          <p:nvPr/>
        </p:nvSpPr>
        <p:spPr>
          <a:xfrm>
            <a:off x="9153144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Adaptive PWM from load current; integrated sensing and protection</a:t>
            </a:r>
            <a:endParaRPr lang="en-US" sz="1400" dirty="0"/>
          </a:p>
        </p:txBody>
      </p:sp>
      <p:sp>
        <p:nvSpPr>
          <p:cNvPr id="43" name="text-72"/>
          <p:cNvSpPr txBox="1"/>
          <p:nvPr/>
        </p:nvSpPr>
        <p:spPr>
          <a:xfrm>
            <a:off x="9153144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503F"/>
                </a:solidFill>
              </a:rPr>
              <a:t>Limit</a:t>
            </a:r>
            <a:endParaRPr lang="en-US" sz="1300" dirty="0"/>
          </a:p>
        </p:txBody>
      </p:sp>
      <p:sp>
        <p:nvSpPr>
          <p:cNvPr id="44" name="text-73"/>
          <p:cNvSpPr txBox="1"/>
          <p:nvPr/>
        </p:nvSpPr>
        <p:spPr>
          <a:xfrm>
            <a:off x="9153144" y="4114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More complex design and verification</a:t>
            </a:r>
            <a:endParaRPr lang="en-US" sz="1400" dirty="0"/>
          </a:p>
        </p:txBody>
      </p:sp>
      <p:sp>
        <p:nvSpPr>
          <p:cNvPr id="45" name="text-74"/>
          <p:cNvSpPr txBox="1"/>
          <p:nvPr/>
        </p:nvSpPr>
        <p:spPr>
          <a:xfrm>
            <a:off x="9153144" y="5120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7280"/>
                </a:solidFill>
              </a:rPr>
              <a:t>Typical use</a:t>
            </a:r>
            <a:endParaRPr lang="en-US" sz="1300" dirty="0"/>
          </a:p>
        </p:txBody>
      </p:sp>
      <p:sp>
        <p:nvSpPr>
          <p:cNvPr id="46" name="text-75"/>
          <p:cNvSpPr txBox="1"/>
          <p:nvPr/>
        </p:nvSpPr>
        <p:spPr>
          <a:xfrm>
            <a:off x="9153144" y="5394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Robotics, variable-load actuators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papers reviewed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566160"/>
                <a:gridCol w="1463040"/>
                <a:gridCol w="1188720"/>
                <a:gridCol w="1371600"/>
                <a:gridCol w="3017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al., 2010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integrated H-bridge DC motor 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um HV CMOS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2.5-5.5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Bridge, control and UVLO / OCP / OTP on one chip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 et al., 2012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Monolithic BLDC vibration-motor driver with Hall 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um CMOS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Sensor, control and driver on one chip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Krenzke et al., 2003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V H-bridge driver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 um CMOS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36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FETs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Charge-pump high-side drive, dead-time, short-circuit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Dong et al.,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Stepper driver with integrated current sensing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um BCD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8-40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 (1.6 A cont.)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Cascode-mirror sensing for PWM current chopping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et al.,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dead-time high-side gate 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um BCD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V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dead-time; 7.4 % lower power than fixed dead-time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76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7280"/>
                </a:solidFill>
              </a:rPr>
              <a:t>Specifications as summarized from the papers in the review slides.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Papers 1-3: integration, sensing and high-side drive</a:t>
            </a:r>
            <a:endParaRPr lang="en-US" sz="3000" dirty="0"/>
          </a:p>
        </p:txBody>
      </p:sp>
      <p:sp>
        <p:nvSpPr>
          <p:cNvPr id="3" name="card-77"/>
          <p:cNvSpPr/>
          <p:nvPr/>
        </p:nvSpPr>
        <p:spPr>
          <a:xfrm>
            <a:off x="548640" y="132588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</p:sp>
      <p:sp>
        <p:nvSpPr>
          <p:cNvPr id="4" name="chip-78"/>
          <p:cNvSpPr/>
          <p:nvPr/>
        </p:nvSpPr>
        <p:spPr>
          <a:xfrm>
            <a:off x="731520" y="1508760"/>
            <a:ext cx="2194560" cy="329184"/>
          </a:xfrm>
          <a:prstGeom prst="roundRect">
            <a:avLst>
              <a:gd name="adj" fmla="val 33333"/>
            </a:avLst>
          </a:prstGeom>
          <a:solidFill>
            <a:srgbClr val="2F6DB5"/>
          </a:solidFill>
          <a:ln w="6350">
            <a:solidFill>
              <a:srgbClr val="2F6DB5"/>
            </a:solidFill>
            <a:prstDash val="solid"/>
          </a:ln>
        </p:spPr>
      </p:sp>
      <p:sp>
        <p:nvSpPr>
          <p:cNvPr id="5" name="text-79"/>
          <p:cNvSpPr txBox="1"/>
          <p:nvPr/>
        </p:nvSpPr>
        <p:spPr>
          <a:xfrm>
            <a:off x="731520" y="1508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Paper 1 | Zhang, 2010</a:t>
            </a:r>
            <a:endParaRPr lang="en-US" sz="1200" dirty="0"/>
          </a:p>
        </p:txBody>
      </p:sp>
      <p:sp>
        <p:nvSpPr>
          <p:cNvPr id="6" name="text-80"/>
          <p:cNvSpPr txBox="1"/>
          <p:nvPr/>
        </p:nvSpPr>
        <p:spPr>
          <a:xfrm>
            <a:off x="731520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integrated H-bridge</a:t>
            </a:r>
            <a:endParaRPr lang="en-US" sz="1800" dirty="0"/>
          </a:p>
        </p:txBody>
      </p:sp>
      <p:sp>
        <p:nvSpPr>
          <p:cNvPr id="7" name="text-81"/>
          <p:cNvSpPr txBox="1"/>
          <p:nvPr/>
        </p:nvSpPr>
        <p:spPr>
          <a:xfrm>
            <a:off x="73152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7280"/>
                </a:solidFill>
              </a:rPr>
              <a:t>2.5-5.5 V, 1 A, PWM and analog speed control</a:t>
            </a:r>
            <a:endParaRPr lang="en-US" sz="1300" dirty="0"/>
          </a:p>
        </p:txBody>
      </p:sp>
      <p:sp>
        <p:nvSpPr>
          <p:cNvPr id="8" name="text-82"/>
          <p:cNvSpPr txBox="1"/>
          <p:nvPr/>
        </p:nvSpPr>
        <p:spPr>
          <a:xfrm>
            <a:off x="7315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</a:rPr>
              <a:t>What we take</a:t>
            </a:r>
            <a:endParaRPr lang="en-US" sz="1300" dirty="0"/>
          </a:p>
        </p:txBody>
      </p:sp>
      <p:sp>
        <p:nvSpPr>
          <p:cNvPr id="9" name="text-83"/>
          <p:cNvSpPr txBox="1"/>
          <p:nvPr/>
        </p:nvSpPr>
        <p:spPr>
          <a:xfrm>
            <a:off x="731520" y="3657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Integrating power stage, control and UVLO / OCP / OTP in one IC is practical; gives baseline metrics.</a:t>
            </a:r>
            <a:endParaRPr lang="en-US" sz="1400" dirty="0"/>
          </a:p>
        </p:txBody>
      </p:sp>
      <p:sp>
        <p:nvSpPr>
          <p:cNvPr id="10" name="text-84"/>
          <p:cNvSpPr txBox="1"/>
          <p:nvPr/>
        </p:nvSpPr>
        <p:spPr>
          <a:xfrm>
            <a:off x="73152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503F"/>
                </a:solidFill>
              </a:rPr>
              <a:t>Gap</a:t>
            </a:r>
            <a:endParaRPr lang="en-US" sz="1300" dirty="0"/>
          </a:p>
        </p:txBody>
      </p:sp>
      <p:sp>
        <p:nvSpPr>
          <p:cNvPr id="11" name="text-85"/>
          <p:cNvSpPr txBox="1"/>
          <p:nvPr/>
        </p:nvSpPr>
        <p:spPr>
          <a:xfrm>
            <a:off x="73152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Conventional control; basic current sensing; no adaptation.</a:t>
            </a:r>
            <a:endParaRPr lang="en-US" sz="1400" dirty="0"/>
          </a:p>
        </p:txBody>
      </p:sp>
      <p:sp>
        <p:nvSpPr>
          <p:cNvPr id="12" name="card-86"/>
          <p:cNvSpPr/>
          <p:nvPr/>
        </p:nvSpPr>
        <p:spPr>
          <a:xfrm>
            <a:off x="4297680" y="132588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</p:sp>
      <p:sp>
        <p:nvSpPr>
          <p:cNvPr id="13" name="chip-87"/>
          <p:cNvSpPr/>
          <p:nvPr/>
        </p:nvSpPr>
        <p:spPr>
          <a:xfrm>
            <a:off x="4480560" y="1508760"/>
            <a:ext cx="2194560" cy="329184"/>
          </a:xfrm>
          <a:prstGeom prst="roundRect">
            <a:avLst>
              <a:gd name="adj" fmla="val 33333"/>
            </a:avLst>
          </a:prstGeom>
          <a:solidFill>
            <a:srgbClr val="1B8A8F"/>
          </a:solidFill>
          <a:ln w="6350">
            <a:solidFill>
              <a:srgbClr val="1B8A8F"/>
            </a:solidFill>
            <a:prstDash val="solid"/>
          </a:ln>
        </p:spPr>
      </p:sp>
      <p:sp>
        <p:nvSpPr>
          <p:cNvPr id="14" name="text-88"/>
          <p:cNvSpPr txBox="1"/>
          <p:nvPr/>
        </p:nvSpPr>
        <p:spPr>
          <a:xfrm>
            <a:off x="4480560" y="1508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Paper 2 | Xu, 2012</a:t>
            </a:r>
            <a:endParaRPr lang="en-US" sz="1200" dirty="0"/>
          </a:p>
        </p:txBody>
      </p:sp>
      <p:sp>
        <p:nvSpPr>
          <p:cNvPr id="15" name="text-89"/>
          <p:cNvSpPr txBox="1"/>
          <p:nvPr/>
        </p:nvSpPr>
        <p:spPr>
          <a:xfrm>
            <a:off x="4480560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Monolithic BLDC driver with Hall sensor</a:t>
            </a:r>
            <a:endParaRPr lang="en-US" sz="1800" dirty="0"/>
          </a:p>
        </p:txBody>
      </p:sp>
      <p:sp>
        <p:nvSpPr>
          <p:cNvPr id="16" name="text-90"/>
          <p:cNvSpPr txBox="1"/>
          <p:nvPr/>
        </p:nvSpPr>
        <p:spPr>
          <a:xfrm>
            <a:off x="448056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7280"/>
                </a:solidFill>
              </a:rPr>
              <a:t>2-4 V, 300 mA, 7-stage inverter gate drive</a:t>
            </a:r>
            <a:endParaRPr lang="en-US" sz="1300" dirty="0"/>
          </a:p>
        </p:txBody>
      </p:sp>
      <p:sp>
        <p:nvSpPr>
          <p:cNvPr id="17" name="text-91"/>
          <p:cNvSpPr txBox="1"/>
          <p:nvPr/>
        </p:nvSpPr>
        <p:spPr>
          <a:xfrm>
            <a:off x="448056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</a:rPr>
              <a:t>What we take</a:t>
            </a:r>
            <a:endParaRPr lang="en-US" sz="1300" dirty="0"/>
          </a:p>
        </p:txBody>
      </p:sp>
      <p:sp>
        <p:nvSpPr>
          <p:cNvPr id="18" name="text-92"/>
          <p:cNvSpPr txBox="1"/>
          <p:nvPr/>
        </p:nvSpPr>
        <p:spPr>
          <a:xfrm>
            <a:off x="4480560" y="3657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On-chip sensing can sit beside the driver; strong multi-stage gate drive.</a:t>
            </a:r>
            <a:endParaRPr lang="en-US" sz="1400" dirty="0"/>
          </a:p>
        </p:txBody>
      </p:sp>
      <p:sp>
        <p:nvSpPr>
          <p:cNvPr id="19" name="text-93"/>
          <p:cNvSpPr txBox="1"/>
          <p:nvPr/>
        </p:nvSpPr>
        <p:spPr>
          <a:xfrm>
            <a:off x="448056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503F"/>
                </a:solidFill>
              </a:rPr>
              <a:t>Gap</a:t>
            </a:r>
            <a:endParaRPr lang="en-US" sz="1300" dirty="0"/>
          </a:p>
        </p:txBody>
      </p:sp>
      <p:sp>
        <p:nvSpPr>
          <p:cNvPr id="20" name="text-94"/>
          <p:cNvSpPr txBox="1"/>
          <p:nvPr/>
        </p:nvSpPr>
        <p:spPr>
          <a:xfrm>
            <a:off x="448056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300 mA only; BLDC-specific; no load-dependent drive.</a:t>
            </a:r>
            <a:endParaRPr lang="en-US" sz="1400" dirty="0"/>
          </a:p>
        </p:txBody>
      </p:sp>
      <p:sp>
        <p:nvSpPr>
          <p:cNvPr id="21" name="card-95"/>
          <p:cNvSpPr/>
          <p:nvPr/>
        </p:nvSpPr>
        <p:spPr>
          <a:xfrm>
            <a:off x="8046720" y="132588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</p:sp>
      <p:sp>
        <p:nvSpPr>
          <p:cNvPr id="22" name="chip-96"/>
          <p:cNvSpPr/>
          <p:nvPr/>
        </p:nvSpPr>
        <p:spPr>
          <a:xfrm>
            <a:off x="8229600" y="1508760"/>
            <a:ext cx="2194560" cy="329184"/>
          </a:xfrm>
          <a:prstGeom prst="roundRect">
            <a:avLst>
              <a:gd name="adj" fmla="val 33333"/>
            </a:avLst>
          </a:prstGeom>
          <a:solidFill>
            <a:srgbClr val="7A5BB5"/>
          </a:solidFill>
          <a:ln w="6350">
            <a:solidFill>
              <a:srgbClr val="7A5BB5"/>
            </a:solidFill>
            <a:prstDash val="solid"/>
          </a:ln>
        </p:spPr>
      </p:sp>
      <p:sp>
        <p:nvSpPr>
          <p:cNvPr id="23" name="text-97"/>
          <p:cNvSpPr txBox="1"/>
          <p:nvPr/>
        </p:nvSpPr>
        <p:spPr>
          <a:xfrm>
            <a:off x="8229600" y="1508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Paper 3 | Krenzke, 2003</a:t>
            </a:r>
            <a:endParaRPr lang="en-US" sz="1200" dirty="0"/>
          </a:p>
        </p:txBody>
      </p:sp>
      <p:sp>
        <p:nvSpPr>
          <p:cNvPr id="24" name="text-98"/>
          <p:cNvSpPr txBox="1"/>
          <p:nvPr/>
        </p:nvSpPr>
        <p:spPr>
          <a:xfrm>
            <a:off x="8229600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V H-bridge driver interface</a:t>
            </a:r>
            <a:endParaRPr lang="en-US" sz="1800" dirty="0"/>
          </a:p>
        </p:txBody>
      </p:sp>
      <p:sp>
        <p:nvSpPr>
          <p:cNvPr id="25" name="text-99"/>
          <p:cNvSpPr txBox="1"/>
          <p:nvPr/>
        </p:nvSpPr>
        <p:spPr>
          <a:xfrm>
            <a:off x="822960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7280"/>
                </a:solidFill>
              </a:rPr>
              <a:t>up to 36 V, 50 kHz PWM, on-chip charge pump</a:t>
            </a:r>
            <a:endParaRPr lang="en-US" sz="1300" dirty="0"/>
          </a:p>
        </p:txBody>
      </p:sp>
      <p:sp>
        <p:nvSpPr>
          <p:cNvPr id="26" name="text-100"/>
          <p:cNvSpPr txBox="1"/>
          <p:nvPr/>
        </p:nvSpPr>
        <p:spPr>
          <a:xfrm>
            <a:off x="822960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</a:rPr>
              <a:t>What we take</a:t>
            </a:r>
            <a:endParaRPr lang="en-US" sz="1300" dirty="0"/>
          </a:p>
        </p:txBody>
      </p:sp>
      <p:sp>
        <p:nvSpPr>
          <p:cNvPr id="27" name="text-101"/>
          <p:cNvSpPr txBox="1"/>
          <p:nvPr/>
        </p:nvSpPr>
        <p:spPr>
          <a:xfrm>
            <a:off x="8229600" y="3657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Charge pump, dead-time and cross-conduction protection inform our GATE_DRIVER.</a:t>
            </a:r>
            <a:endParaRPr lang="en-US" sz="1400" dirty="0"/>
          </a:p>
        </p:txBody>
      </p:sp>
      <p:sp>
        <p:nvSpPr>
          <p:cNvPr id="28" name="text-102"/>
          <p:cNvSpPr txBox="1"/>
          <p:nvPr/>
        </p:nvSpPr>
        <p:spPr>
          <a:xfrm>
            <a:off x="822960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503F"/>
                </a:solidFill>
              </a:rPr>
              <a:t>Gap</a:t>
            </a:r>
            <a:endParaRPr lang="en-US" sz="1300" dirty="0"/>
          </a:p>
        </p:txBody>
      </p:sp>
      <p:sp>
        <p:nvSpPr>
          <p:cNvPr id="29" name="text-103"/>
          <p:cNvSpPr txBox="1"/>
          <p:nvPr/>
        </p:nvSpPr>
        <p:spPr>
          <a:xfrm>
            <a:off x="822960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Gate driver only; external FETs; sensing only for protection.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Papers 4-5: current sensing and adaptive dead-time</a:t>
            </a:r>
            <a:endParaRPr lang="en-US" sz="3000" dirty="0"/>
          </a:p>
        </p:txBody>
      </p:sp>
      <p:sp>
        <p:nvSpPr>
          <p:cNvPr id="3" name="card-104"/>
          <p:cNvSpPr/>
          <p:nvPr/>
        </p:nvSpPr>
        <p:spPr>
          <a:xfrm>
            <a:off x="548640" y="132588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</p:sp>
      <p:sp>
        <p:nvSpPr>
          <p:cNvPr id="4" name="chip-105"/>
          <p:cNvSpPr/>
          <p:nvPr/>
        </p:nvSpPr>
        <p:spPr>
          <a:xfrm>
            <a:off x="777240" y="1508760"/>
            <a:ext cx="2194560" cy="329184"/>
          </a:xfrm>
          <a:prstGeom prst="roundRect">
            <a:avLst>
              <a:gd name="adj" fmla="val 33333"/>
            </a:avLst>
          </a:prstGeom>
          <a:solidFill>
            <a:srgbClr val="1B8A8F"/>
          </a:solidFill>
          <a:ln w="6350">
            <a:solidFill>
              <a:srgbClr val="1B8A8F"/>
            </a:solidFill>
            <a:prstDash val="solid"/>
          </a:ln>
        </p:spPr>
      </p:sp>
      <p:sp>
        <p:nvSpPr>
          <p:cNvPr id="5" name="text-106"/>
          <p:cNvSpPr txBox="1"/>
          <p:nvPr/>
        </p:nvSpPr>
        <p:spPr>
          <a:xfrm>
            <a:off x="777240" y="1508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Paper 4 | Dong, 2025</a:t>
            </a:r>
            <a:endParaRPr lang="en-US" sz="1200" dirty="0"/>
          </a:p>
        </p:txBody>
      </p:sp>
      <p:sp>
        <p:nvSpPr>
          <p:cNvPr id="6" name="text-107"/>
          <p:cNvSpPr txBox="1"/>
          <p:nvPr/>
        </p:nvSpPr>
        <p:spPr>
          <a:xfrm>
            <a:off x="77724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current sensing in a stepper driver</a:t>
            </a:r>
            <a:endParaRPr lang="en-US" sz="1800" dirty="0"/>
          </a:p>
        </p:txBody>
      </p:sp>
      <p:sp>
        <p:nvSpPr>
          <p:cNvPr id="7" name="text-108"/>
          <p:cNvSpPr txBox="1"/>
          <p:nvPr/>
        </p:nvSpPr>
        <p:spPr>
          <a:xfrm>
            <a:off x="3566160" y="1481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B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8-40 V | 2 A</a:t>
            </a:r>
            <a:endParaRPr lang="en-US" sz="2800" dirty="0"/>
          </a:p>
        </p:txBody>
      </p:sp>
      <p:sp>
        <p:nvSpPr>
          <p:cNvPr id="8" name="text-109"/>
          <p:cNvSpPr txBox="1"/>
          <p:nvPr/>
        </p:nvSpPr>
        <p:spPr>
          <a:xfrm>
            <a:off x="777240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7280"/>
                </a:solidFill>
              </a:rPr>
              <a:t>Technique</a:t>
            </a:r>
            <a:endParaRPr lang="en-US" sz="1300" dirty="0"/>
          </a:p>
        </p:txBody>
      </p:sp>
      <p:sp>
        <p:nvSpPr>
          <p:cNvPr id="9" name="text-110"/>
          <p:cNvSpPr txBox="1"/>
          <p:nvPr/>
        </p:nvSpPr>
        <p:spPr>
          <a:xfrm>
            <a:off x="777240" y="2834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Cascode current mirrors sample the bridge current for PWM current chopping, without an external sense resistor.</a:t>
            </a:r>
            <a:endParaRPr lang="en-US" sz="1400" dirty="0"/>
          </a:p>
        </p:txBody>
      </p:sp>
      <p:sp>
        <p:nvSpPr>
          <p:cNvPr id="10" name="text-111"/>
          <p:cNvSpPr txBox="1"/>
          <p:nvPr/>
        </p:nvSpPr>
        <p:spPr>
          <a:xfrm>
            <a:off x="777240" y="3840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</a:rPr>
              <a:t>What we take</a:t>
            </a:r>
            <a:endParaRPr lang="en-US" sz="1300" dirty="0"/>
          </a:p>
        </p:txBody>
      </p:sp>
      <p:sp>
        <p:nvSpPr>
          <p:cNvPr id="11" name="text-112"/>
          <p:cNvSpPr txBox="1"/>
          <p:nvPr/>
        </p:nvSpPr>
        <p:spPr>
          <a:xfrm>
            <a:off x="777240" y="4114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Supports our CURRENT_SENSE block; shows on-chip sensing enables closed-loop control.</a:t>
            </a:r>
            <a:endParaRPr lang="en-US" sz="1400" dirty="0"/>
          </a:p>
        </p:txBody>
      </p:sp>
      <p:sp>
        <p:nvSpPr>
          <p:cNvPr id="12" name="text-113"/>
          <p:cNvSpPr txBox="1"/>
          <p:nvPr/>
        </p:nvSpPr>
        <p:spPr>
          <a:xfrm>
            <a:off x="77724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503F"/>
                </a:solidFill>
              </a:rPr>
              <a:t>Gap</a:t>
            </a:r>
            <a:endParaRPr lang="en-US" sz="1300" dirty="0"/>
          </a:p>
        </p:txBody>
      </p:sp>
      <p:sp>
        <p:nvSpPr>
          <p:cNvPr id="13" name="text-114"/>
          <p:cNvSpPr txBox="1"/>
          <p:nvPr/>
        </p:nvSpPr>
        <p:spPr>
          <a:xfrm>
            <a:off x="777240" y="5303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Stepper-specific; regulation is not load-adaptive.</a:t>
            </a:r>
            <a:endParaRPr lang="en-US" sz="1400" dirty="0"/>
          </a:p>
        </p:txBody>
      </p:sp>
      <p:sp>
        <p:nvSpPr>
          <p:cNvPr id="14" name="card-115"/>
          <p:cNvSpPr/>
          <p:nvPr/>
        </p:nvSpPr>
        <p:spPr>
          <a:xfrm>
            <a:off x="6172200" y="132588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</p:sp>
      <p:sp>
        <p:nvSpPr>
          <p:cNvPr id="15" name="chip-116"/>
          <p:cNvSpPr/>
          <p:nvPr/>
        </p:nvSpPr>
        <p:spPr>
          <a:xfrm>
            <a:off x="6400800" y="1508760"/>
            <a:ext cx="2194560" cy="329184"/>
          </a:xfrm>
          <a:prstGeom prst="roundRect">
            <a:avLst>
              <a:gd name="adj" fmla="val 33333"/>
            </a:avLst>
          </a:prstGeom>
          <a:solidFill>
            <a:srgbClr val="F0A33C"/>
          </a:solidFill>
          <a:ln w="6350">
            <a:solidFill>
              <a:srgbClr val="F0A33C"/>
            </a:solidFill>
            <a:prstDash val="solid"/>
          </a:ln>
        </p:spPr>
      </p:sp>
      <p:sp>
        <p:nvSpPr>
          <p:cNvPr id="16" name="text-117"/>
          <p:cNvSpPr txBox="1"/>
          <p:nvPr/>
        </p:nvSpPr>
        <p:spPr>
          <a:xfrm>
            <a:off x="6400800" y="1508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431"/>
                </a:solidFill>
              </a:rPr>
              <a:t>Paper 5 | He, 2026</a:t>
            </a:r>
            <a:endParaRPr lang="en-US" sz="1200" dirty="0"/>
          </a:p>
        </p:txBody>
      </p:sp>
      <p:sp>
        <p:nvSpPr>
          <p:cNvPr id="17" name="text-118"/>
          <p:cNvSpPr txBox="1"/>
          <p:nvPr/>
        </p:nvSpPr>
        <p:spPr>
          <a:xfrm>
            <a:off x="640080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dead-time high-side gate driver</a:t>
            </a:r>
            <a:endParaRPr lang="en-US" sz="1800" dirty="0"/>
          </a:p>
        </p:txBody>
      </p:sp>
      <p:sp>
        <p:nvSpPr>
          <p:cNvPr id="18" name="text-119"/>
          <p:cNvSpPr txBox="1"/>
          <p:nvPr/>
        </p:nvSpPr>
        <p:spPr>
          <a:xfrm>
            <a:off x="9189720" y="1481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0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-7.4 % power</a:t>
            </a:r>
            <a:endParaRPr lang="en-US" sz="2800" dirty="0"/>
          </a:p>
        </p:txBody>
      </p:sp>
      <p:sp>
        <p:nvSpPr>
          <p:cNvPr id="19" name="text-120"/>
          <p:cNvSpPr txBox="1"/>
          <p:nvPr/>
        </p:nvSpPr>
        <p:spPr>
          <a:xfrm>
            <a:off x="6400800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7280"/>
                </a:solidFill>
              </a:rPr>
              <a:t>Technique</a:t>
            </a:r>
            <a:endParaRPr lang="en-US" sz="1300" dirty="0"/>
          </a:p>
        </p:txBody>
      </p:sp>
      <p:sp>
        <p:nvSpPr>
          <p:cNvPr id="20" name="text-121"/>
          <p:cNvSpPr txBox="1"/>
          <p:nvPr/>
        </p:nvSpPr>
        <p:spPr>
          <a:xfrm>
            <a:off x="6400800" y="2834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Adaptive dead-time with cross-interlocked drive; verified by tape-out and hardware test (0.18 um BCD, 24 V).</a:t>
            </a:r>
            <a:endParaRPr lang="en-US" sz="1400" dirty="0"/>
          </a:p>
        </p:txBody>
      </p:sp>
      <p:sp>
        <p:nvSpPr>
          <p:cNvPr id="21" name="text-122"/>
          <p:cNvSpPr txBox="1"/>
          <p:nvPr/>
        </p:nvSpPr>
        <p:spPr>
          <a:xfrm>
            <a:off x="6400800" y="3840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</a:rPr>
              <a:t>What we take</a:t>
            </a:r>
            <a:endParaRPr lang="en-US" sz="1300" dirty="0"/>
          </a:p>
        </p:txBody>
      </p:sp>
      <p:sp>
        <p:nvSpPr>
          <p:cNvPr id="22" name="text-123"/>
          <p:cNvSpPr txBox="1"/>
          <p:nvPr/>
        </p:nvSpPr>
        <p:spPr>
          <a:xfrm>
            <a:off x="6400800" y="4114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Techniques reusable in our gate driver; shows adaptation pays off.</a:t>
            </a:r>
            <a:endParaRPr lang="en-US" sz="1400" dirty="0"/>
          </a:p>
        </p:txBody>
      </p:sp>
      <p:sp>
        <p:nvSpPr>
          <p:cNvPr id="23" name="text-124"/>
          <p:cNvSpPr txBox="1"/>
          <p:nvPr/>
        </p:nvSpPr>
        <p:spPr>
          <a:xfrm>
            <a:off x="640080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503F"/>
                </a:solidFill>
              </a:rPr>
              <a:t>Gap</a:t>
            </a:r>
            <a:endParaRPr lang="en-US" sz="1300" dirty="0"/>
          </a:p>
        </p:txBody>
      </p:sp>
      <p:sp>
        <p:nvSpPr>
          <p:cNvPr id="24" name="text-125"/>
          <p:cNvSpPr txBox="1"/>
          <p:nvPr/>
        </p:nvSpPr>
        <p:spPr>
          <a:xfrm>
            <a:off x="6400800" y="5303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load-current-based duty control.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Base paper: Dong et al., IEICE Electronics Express, 2025</a:t>
            </a:r>
            <a:endParaRPr lang="en-US" sz="3000" dirty="0"/>
          </a:p>
        </p:txBody>
      </p:sp>
      <p:sp>
        <p:nvSpPr>
          <p:cNvPr id="3" name="card-153"/>
          <p:cNvSpPr/>
          <p:nvPr/>
        </p:nvSpPr>
        <p:spPr>
          <a:xfrm>
            <a:off x="548640" y="1325880"/>
            <a:ext cx="3566160" cy="3886200"/>
          </a:xfrm>
          <a:prstGeom prst="roundRect">
            <a:avLst>
              <a:gd name="adj" fmla="val 2500"/>
            </a:avLst>
          </a:prstGeom>
          <a:solidFill>
            <a:srgbClr val="E6EEF8"/>
          </a:solidFill>
          <a:ln w="9525">
            <a:solidFill>
              <a:srgbClr val="E6EEF8"/>
            </a:solidFill>
            <a:prstDash val="solid"/>
          </a:ln>
        </p:spPr>
      </p:sp>
      <p:sp>
        <p:nvSpPr>
          <p:cNvPr id="4" name="text-154"/>
          <p:cNvSpPr txBox="1"/>
          <p:nvPr/>
        </p:nvSpPr>
        <p:spPr>
          <a:xfrm>
            <a:off x="7772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base paper gives</a:t>
            </a:r>
            <a:endParaRPr lang="en-US" sz="1800" dirty="0"/>
          </a:p>
        </p:txBody>
      </p:sp>
      <p:sp>
        <p:nvSpPr>
          <p:cNvPr id="5" name="text-155"/>
          <p:cNvSpPr txBox="1"/>
          <p:nvPr/>
        </p:nvSpPr>
        <p:spPr>
          <a:xfrm>
            <a:off x="777240" y="1965960"/>
            <a:ext cx="31546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Two-phase stepper driver in 0.18 um BCD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8-40 V supply; 2 A maximum, 1.6 A continuous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Integrated H-bridge, driver circuits and protection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Cascode current mirrors sample the bridge current</a:t>
            </a:r>
            <a:endParaRPr lang="en-US" sz="1400" dirty="0"/>
          </a:p>
        </p:txBody>
      </p:sp>
      <p:sp>
        <p:nvSpPr>
          <p:cNvPr id="6" name="card-156"/>
          <p:cNvSpPr/>
          <p:nvPr/>
        </p:nvSpPr>
        <p:spPr>
          <a:xfrm>
            <a:off x="4297680" y="1325880"/>
            <a:ext cx="3566160" cy="3886200"/>
          </a:xfrm>
          <a:prstGeom prst="roundRect">
            <a:avLst>
              <a:gd name="adj" fmla="val 2500"/>
            </a:avLst>
          </a:prstGeom>
          <a:solidFill>
            <a:srgbClr val="FBECE9"/>
          </a:solidFill>
          <a:ln w="9525">
            <a:solidFill>
              <a:srgbClr val="FBECE9"/>
            </a:solidFill>
            <a:prstDash val="solid"/>
          </a:ln>
        </p:spPr>
      </p:sp>
      <p:sp>
        <p:nvSpPr>
          <p:cNvPr id="7" name="text-157"/>
          <p:cNvSpPr txBox="1"/>
          <p:nvPr/>
        </p:nvSpPr>
        <p:spPr>
          <a:xfrm>
            <a:off x="452628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missing for us</a:t>
            </a:r>
            <a:endParaRPr lang="en-US" sz="1800" dirty="0"/>
          </a:p>
        </p:txBody>
      </p:sp>
      <p:sp>
        <p:nvSpPr>
          <p:cNvPr id="8" name="text-158"/>
          <p:cNvSpPr txBox="1"/>
          <p:nvPr/>
        </p:nvSpPr>
        <p:spPr>
          <a:xfrm>
            <a:off x="4526280" y="1965960"/>
            <a:ext cx="31546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Stepper only: no brushed-DC actuator case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Regulation is reference-based current chopping, not load-aware PWM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explicit gate-driver and dead-time hierarchy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Sensing serves chopping; duty is not reduced as load rises</a:t>
            </a:r>
            <a:endParaRPr lang="en-US" sz="1400" dirty="0"/>
          </a:p>
        </p:txBody>
      </p:sp>
      <p:sp>
        <p:nvSpPr>
          <p:cNvPr id="9" name="card-159"/>
          <p:cNvSpPr/>
          <p:nvPr/>
        </p:nvSpPr>
        <p:spPr>
          <a:xfrm>
            <a:off x="8046720" y="1325880"/>
            <a:ext cx="3566160" cy="3886200"/>
          </a:xfrm>
          <a:prstGeom prst="roundRect">
            <a:avLst>
              <a:gd name="adj" fmla="val 2500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</p:sp>
      <p:sp>
        <p:nvSpPr>
          <p:cNvPr id="10" name="text-160"/>
          <p:cNvSpPr txBox="1"/>
          <p:nvPr/>
        </p:nvSpPr>
        <p:spPr>
          <a:xfrm>
            <a:off x="827532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on top</a:t>
            </a:r>
            <a:endParaRPr lang="en-US" sz="1800" dirty="0"/>
          </a:p>
        </p:txBody>
      </p:sp>
      <p:sp>
        <p:nvSpPr>
          <p:cNvPr id="11" name="text-161"/>
          <p:cNvSpPr txBox="1"/>
          <p:nvPr/>
        </p:nvSpPr>
        <p:spPr>
          <a:xfrm>
            <a:off x="8275320" y="1965960"/>
            <a:ext cx="31546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Brushed-DC robotic actuator in one Cadence hierarchy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Shunt and sense amplifier feeding ISENSE_OUT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Current-feedback adaptive PWM: duty falls as load current rises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Gate_Driver with a Dead_Time cell per leg; UVLO and OCP in one FAULT path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support-card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6400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upport-text"/>
          <p:cNvSpPr txBox="1"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Supporting reference  </a:t>
            </a:r>
            <a:r>
              <a:rPr lang="en-US" sz="1300" dirty="0">
                <a:solidFill>
                  <a:schemeClr val="tx1"/>
                </a:solidFill>
              </a:rPr>
              <a:t>Paper 1 (2010), fully integrated H-bridge DC-motor driver: PWM / analog speed control and UVLO, OCP, OTP protection. It backs our DC-motor power stage and protection architecture. Our work extends these papers; it is not a claim of absolute novelty.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Base paper versus our extension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023360"/>
                <a:gridCol w="4846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Dong et al., 2025 (base paper)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extension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33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application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400" b="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Two-phase stepper motor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400" dirty="0" b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Brushed-DC robotic actuator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400" b="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H-bridge, 0.18 um BCD, 8-40 V, 2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400" dirty="0" b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H-bridge with explicit Gate_Driver and a Dead_Time cell per leg (gpdk090, 1.8 V simulated)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sensing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400" b="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cascode current mirrors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400" dirty="0" b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Shunt resistor and sense amplifier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400" b="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Reference-based current chopping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400" dirty="0" b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Current-feedback adaptive PWM duty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400" b="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protection circuits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400" dirty="0" b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UVLO and overcurrent merged into one FAULT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400" b="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motor driver and current sensing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algn="l">
                        <a:buNone/>
                      </a:pPr>
                      <a:r>
                        <a:rPr lang="en-US" sz="1400" dirty="0" b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Load-aware PWM that cuts duty as current rises, shown in simulation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76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7280"/>
                </a:solidFill>
              </a:rPr>
              <a:t>The base paper's current regulation is not the same as our load-aware adaptive PWM; the extension is demonstrated in the simulation results that follow.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Limitations in existing work, and how we resolve them</a:t>
            </a:r>
            <a:endParaRPr lang="en-US" sz="3000" dirty="0"/>
          </a:p>
        </p:txBody>
      </p:sp>
      <p:sp>
        <p:nvSpPr>
          <p:cNvPr id="3" name="text-126"/>
          <p:cNvSpPr txBox="1"/>
          <p:nvPr/>
        </p:nvSpPr>
        <p:spPr>
          <a:xfrm>
            <a:off x="548640" y="1188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503F"/>
                </a:solidFill>
              </a:rPr>
              <a:t>Limitation in the literature</a:t>
            </a:r>
            <a:endParaRPr lang="en-US" sz="1500" dirty="0"/>
          </a:p>
        </p:txBody>
      </p:sp>
      <p:sp>
        <p:nvSpPr>
          <p:cNvPr id="4" name="text-127"/>
          <p:cNvSpPr txBox="1"/>
          <p:nvPr/>
        </p:nvSpPr>
        <p:spPr>
          <a:xfrm>
            <a:off x="6675120" y="1188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</a:rPr>
              <a:t>Our approach</a:t>
            </a:r>
            <a:endParaRPr lang="en-US" sz="1500" dirty="0"/>
          </a:p>
        </p:txBody>
      </p:sp>
      <p:sp>
        <p:nvSpPr>
          <p:cNvPr id="5" name="card-128"/>
          <p:cNvSpPr/>
          <p:nvPr/>
        </p:nvSpPr>
        <p:spPr>
          <a:xfrm>
            <a:off x="548640" y="16002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BECE9"/>
          </a:solidFill>
          <a:ln w="9525">
            <a:solidFill>
              <a:srgbClr val="FBECE9"/>
            </a:solidFill>
            <a:prstDash val="solid"/>
          </a:ln>
        </p:spPr>
        <p:txBody>
          <a:bodyPr/>
          <a:p/>
        </p:txBody>
      </p:sp>
      <p:sp>
        <p:nvSpPr>
          <p:cNvPr id="6" name="text-129"/>
          <p:cNvSpPr txBox="1"/>
          <p:nvPr/>
        </p:nvSpPr>
        <p:spPr>
          <a:xfrm>
            <a:off x="777240" y="1600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Fixed, non-adaptive PWM or analog control</a:t>
            </a:r>
            <a:endParaRPr lang="en-US" sz="1500" dirty="0"/>
          </a:p>
        </p:txBody>
      </p:sp>
      <p:sp>
        <p:nvSpPr>
          <p:cNvPr id="7" name="arrow-130"/>
          <p:cNvSpPr/>
          <p:nvPr/>
        </p:nvSpPr>
        <p:spPr>
          <a:xfrm>
            <a:off x="5943600" y="1783080"/>
            <a:ext cx="548640" cy="411480"/>
          </a:xfrm>
          <a:prstGeom prst="rightArrow">
            <a:avLst/>
          </a:prstGeom>
          <a:solidFill>
            <a:srgbClr val="5F7280"/>
          </a:solidFill>
          <a:ln w="6350">
            <a:solidFill>
              <a:srgbClr val="5F7280"/>
            </a:solidFill>
            <a:prstDash val="solid"/>
          </a:ln>
        </p:spPr>
        <p:txBody>
          <a:bodyPr/>
          <a:p/>
        </p:txBody>
      </p:sp>
      <p:sp>
        <p:nvSpPr>
          <p:cNvPr id="8" name="card-131"/>
          <p:cNvSpPr/>
          <p:nvPr/>
        </p:nvSpPr>
        <p:spPr>
          <a:xfrm>
            <a:off x="6675120" y="16002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  <p:txBody>
          <a:bodyPr/>
          <a:p/>
        </p:txBody>
      </p:sp>
      <p:sp>
        <p:nvSpPr>
          <p:cNvPr id="9" name="text-132"/>
          <p:cNvSpPr txBox="1"/>
          <p:nvPr/>
        </p:nvSpPr>
        <p:spPr>
          <a:xfrm>
            <a:off x="6903720" y="1600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Adaptive PWM driven by sensed load current</a:t>
            </a:r>
            <a:endParaRPr lang="en-US" sz="1500" dirty="0"/>
          </a:p>
        </p:txBody>
      </p:sp>
      <p:sp>
        <p:nvSpPr>
          <p:cNvPr id="10" name="card-133"/>
          <p:cNvSpPr/>
          <p:nvPr/>
        </p:nvSpPr>
        <p:spPr>
          <a:xfrm>
            <a:off x="548640" y="25146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BECE9"/>
          </a:solidFill>
          <a:ln w="9525">
            <a:solidFill>
              <a:srgbClr val="FBECE9"/>
            </a:solidFill>
            <a:prstDash val="solid"/>
          </a:ln>
        </p:spPr>
        <p:txBody>
          <a:bodyPr/>
          <a:p/>
        </p:txBody>
      </p:sp>
      <p:sp>
        <p:nvSpPr>
          <p:cNvPr id="11" name="text-134"/>
          <p:cNvSpPr txBox="1"/>
          <p:nvPr/>
        </p:nvSpPr>
        <p:spPr>
          <a:xfrm>
            <a:off x="777240" y="2514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Current sensing absent, or used only for protection</a:t>
            </a:r>
            <a:endParaRPr lang="en-US" sz="1500" dirty="0"/>
          </a:p>
        </p:txBody>
      </p:sp>
      <p:sp>
        <p:nvSpPr>
          <p:cNvPr id="12" name="arrow-135"/>
          <p:cNvSpPr/>
          <p:nvPr/>
        </p:nvSpPr>
        <p:spPr>
          <a:xfrm>
            <a:off x="5943600" y="2697480"/>
            <a:ext cx="548640" cy="411480"/>
          </a:xfrm>
          <a:prstGeom prst="rightArrow">
            <a:avLst/>
          </a:prstGeom>
          <a:solidFill>
            <a:srgbClr val="5F7280"/>
          </a:solidFill>
          <a:ln w="6350">
            <a:solidFill>
              <a:srgbClr val="5F7280"/>
            </a:solidFill>
            <a:prstDash val="solid"/>
          </a:ln>
        </p:spPr>
        <p:txBody>
          <a:bodyPr/>
          <a:p/>
        </p:txBody>
      </p:sp>
      <p:sp>
        <p:nvSpPr>
          <p:cNvPr id="13" name="card-136"/>
          <p:cNvSpPr/>
          <p:nvPr/>
        </p:nvSpPr>
        <p:spPr>
          <a:xfrm>
            <a:off x="6675120" y="25146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  <p:txBody>
          <a:bodyPr/>
          <a:p/>
        </p:txBody>
      </p:sp>
      <p:sp>
        <p:nvSpPr>
          <p:cNvPr id="14" name="text-137"/>
          <p:cNvSpPr txBox="1"/>
          <p:nvPr/>
        </p:nvSpPr>
        <p:spPr>
          <a:xfrm>
            <a:off x="6903720" y="2514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Integrated shunt sensing with amplifier and comparator</a:t>
            </a:r>
            <a:endParaRPr lang="en-US" sz="1500" dirty="0"/>
          </a:p>
        </p:txBody>
      </p:sp>
      <p:sp>
        <p:nvSpPr>
          <p:cNvPr id="15" name="card-138"/>
          <p:cNvSpPr/>
          <p:nvPr/>
        </p:nvSpPr>
        <p:spPr>
          <a:xfrm>
            <a:off x="548640" y="34290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BECE9"/>
          </a:solidFill>
          <a:ln w="9525">
            <a:solidFill>
              <a:srgbClr val="FBECE9"/>
            </a:solidFill>
            <a:prstDash val="solid"/>
          </a:ln>
        </p:spPr>
        <p:txBody>
          <a:bodyPr/>
          <a:p/>
        </p:txBody>
      </p:sp>
      <p:sp>
        <p:nvSpPr>
          <p:cNvPr id="16" name="text-139"/>
          <p:cNvSpPr txBox="1"/>
          <p:nvPr/>
        </p:nvSpPr>
        <p:spPr>
          <a:xfrm>
            <a:off x="777240" y="3429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Adaptive techniques (dead-time) studied separately from load</a:t>
            </a:r>
            <a:endParaRPr lang="en-US" sz="1500" dirty="0"/>
          </a:p>
        </p:txBody>
      </p:sp>
      <p:sp>
        <p:nvSpPr>
          <p:cNvPr id="17" name="arrow-140"/>
          <p:cNvSpPr/>
          <p:nvPr/>
        </p:nvSpPr>
        <p:spPr>
          <a:xfrm>
            <a:off x="5943600" y="3611880"/>
            <a:ext cx="548640" cy="411480"/>
          </a:xfrm>
          <a:prstGeom prst="rightArrow">
            <a:avLst/>
          </a:prstGeom>
          <a:solidFill>
            <a:srgbClr val="5F7280"/>
          </a:solidFill>
          <a:ln w="6350">
            <a:solidFill>
              <a:srgbClr val="5F7280"/>
            </a:solidFill>
            <a:prstDash val="solid"/>
          </a:ln>
        </p:spPr>
        <p:txBody>
          <a:bodyPr/>
          <a:p/>
        </p:txBody>
      </p:sp>
      <p:sp>
        <p:nvSpPr>
          <p:cNvPr id="18" name="card-141"/>
          <p:cNvSpPr/>
          <p:nvPr/>
        </p:nvSpPr>
        <p:spPr>
          <a:xfrm>
            <a:off x="6675120" y="34290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  <p:txBody>
          <a:bodyPr/>
          <a:p/>
        </p:txBody>
      </p:sp>
      <p:sp>
        <p:nvSpPr>
          <p:cNvPr id="19" name="text-142"/>
          <p:cNvSpPr txBox="1"/>
          <p:nvPr/>
        </p:nvSpPr>
        <p:spPr>
          <a:xfrm>
            <a:off x="6903720" y="34290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Adaptation extended from dead-time toward load current</a:t>
            </a:r>
            <a:endParaRPr lang="en-US" sz="1500" dirty="0"/>
          </a:p>
        </p:txBody>
      </p:sp>
      <p:sp>
        <p:nvSpPr>
          <p:cNvPr id="20" name="card-143"/>
          <p:cNvSpPr/>
          <p:nvPr/>
        </p:nvSpPr>
        <p:spPr>
          <a:xfrm>
            <a:off x="548640" y="43434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BECE9"/>
          </a:solidFill>
          <a:ln w="9525">
            <a:solidFill>
              <a:srgbClr val="FBECE9"/>
            </a:solidFill>
            <a:prstDash val="solid"/>
          </a:ln>
        </p:spPr>
        <p:txBody>
          <a:bodyPr/>
          <a:p/>
        </p:txBody>
      </p:sp>
      <p:sp>
        <p:nvSpPr>
          <p:cNvPr id="21" name="text-144"/>
          <p:cNvSpPr txBox="1"/>
          <p:nvPr/>
        </p:nvSpPr>
        <p:spPr>
          <a:xfrm>
            <a:off x="777240" y="4343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Protection limited or split across separate blocks</a:t>
            </a:r>
            <a:endParaRPr lang="en-US" sz="1500" dirty="0"/>
          </a:p>
        </p:txBody>
      </p:sp>
      <p:sp>
        <p:nvSpPr>
          <p:cNvPr id="22" name="arrow-145"/>
          <p:cNvSpPr/>
          <p:nvPr/>
        </p:nvSpPr>
        <p:spPr>
          <a:xfrm>
            <a:off x="5943600" y="4526280"/>
            <a:ext cx="548640" cy="411480"/>
          </a:xfrm>
          <a:prstGeom prst="rightArrow">
            <a:avLst/>
          </a:prstGeom>
          <a:solidFill>
            <a:srgbClr val="5F7280"/>
          </a:solidFill>
          <a:ln w="6350">
            <a:solidFill>
              <a:srgbClr val="5F7280"/>
            </a:solidFill>
            <a:prstDash val="solid"/>
          </a:ln>
        </p:spPr>
        <p:txBody>
          <a:bodyPr/>
          <a:p/>
        </p:txBody>
      </p:sp>
      <p:sp>
        <p:nvSpPr>
          <p:cNvPr id="23" name="card-146"/>
          <p:cNvSpPr/>
          <p:nvPr/>
        </p:nvSpPr>
        <p:spPr>
          <a:xfrm>
            <a:off x="6675120" y="43434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  <p:txBody>
          <a:bodyPr/>
          <a:p/>
        </p:txBody>
      </p:sp>
      <p:sp>
        <p:nvSpPr>
          <p:cNvPr id="24" name="text-147"/>
          <p:cNvSpPr txBox="1"/>
          <p:nvPr/>
        </p:nvSpPr>
        <p:spPr>
          <a:xfrm>
            <a:off x="6903720" y="4343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UVLO + OCP merged into one FAULT path (OTP: future work)</a:t>
            </a:r>
            <a:endParaRPr lang="en-US" sz="1500" dirty="0"/>
          </a:p>
        </p:txBody>
      </p:sp>
      <p:sp>
        <p:nvSpPr>
          <p:cNvPr id="25" name="card-148"/>
          <p:cNvSpPr/>
          <p:nvPr/>
        </p:nvSpPr>
        <p:spPr>
          <a:xfrm>
            <a:off x="548640" y="52578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BECE9"/>
          </a:solidFill>
          <a:ln w="9525">
            <a:solidFill>
              <a:srgbClr val="FBECE9"/>
            </a:solidFill>
            <a:prstDash val="solid"/>
          </a:ln>
        </p:spPr>
        <p:txBody>
          <a:bodyPr/>
          <a:p/>
        </p:txBody>
      </p:sp>
      <p:sp>
        <p:nvSpPr>
          <p:cNvPr id="26" name="text-149"/>
          <p:cNvSpPr txBox="1"/>
          <p:nvPr/>
        </p:nvSpPr>
        <p:spPr>
          <a:xfrm>
            <a:off x="777240" y="5257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Little focus on robotic DC actuators</a:t>
            </a:r>
            <a:endParaRPr lang="en-US" sz="1500" dirty="0"/>
          </a:p>
        </p:txBody>
      </p:sp>
      <p:sp>
        <p:nvSpPr>
          <p:cNvPr id="27" name="arrow-150"/>
          <p:cNvSpPr/>
          <p:nvPr/>
        </p:nvSpPr>
        <p:spPr>
          <a:xfrm>
            <a:off x="5943600" y="5440680"/>
            <a:ext cx="548640" cy="411480"/>
          </a:xfrm>
          <a:prstGeom prst="rightArrow">
            <a:avLst/>
          </a:prstGeom>
          <a:solidFill>
            <a:srgbClr val="5F7280"/>
          </a:solidFill>
          <a:ln w="6350">
            <a:solidFill>
              <a:srgbClr val="5F7280"/>
            </a:solidFill>
            <a:prstDash val="solid"/>
          </a:ln>
        </p:spPr>
        <p:txBody>
          <a:bodyPr/>
          <a:p/>
        </p:txBody>
      </p:sp>
      <p:sp>
        <p:nvSpPr>
          <p:cNvPr id="28" name="card-151"/>
          <p:cNvSpPr/>
          <p:nvPr/>
        </p:nvSpPr>
        <p:spPr>
          <a:xfrm>
            <a:off x="6675120" y="52578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  <p:txBody>
          <a:bodyPr/>
          <a:p/>
        </p:txBody>
      </p:sp>
      <p:sp>
        <p:nvSpPr>
          <p:cNvPr id="29" name="text-152"/>
          <p:cNvSpPr txBox="1"/>
          <p:nvPr/>
        </p:nvSpPr>
        <p:spPr>
          <a:xfrm>
            <a:off x="6903720" y="5257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Targets brushed-DC robotic actuators with load-aware control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Research gap and proposed contribution</a:t>
            </a:r>
            <a:endParaRPr lang="en-US" sz="3000" dirty="0"/>
          </a:p>
        </p:txBody>
      </p:sp>
      <p:sp>
        <p:nvSpPr>
          <p:cNvPr id="3" name="card-153"/>
          <p:cNvSpPr/>
          <p:nvPr/>
        </p:nvSpPr>
        <p:spPr>
          <a:xfrm>
            <a:off x="548640" y="132588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E6EEF8"/>
          </a:solidFill>
          <a:ln w="9525">
            <a:solidFill>
              <a:srgbClr val="E6EEF8"/>
            </a:solidFill>
            <a:prstDash val="solid"/>
          </a:ln>
        </p:spPr>
      </p:sp>
      <p:sp>
        <p:nvSpPr>
          <p:cNvPr id="4" name="text-154"/>
          <p:cNvSpPr txBox="1"/>
          <p:nvPr/>
        </p:nvSpPr>
        <p:spPr>
          <a:xfrm>
            <a:off x="7772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literature</a:t>
            </a:r>
            <a:endParaRPr lang="en-US" sz="1800" dirty="0"/>
          </a:p>
        </p:txBody>
      </p:sp>
      <p:sp>
        <p:nvSpPr>
          <p:cNvPr id="5" name="text-155"/>
          <p:cNvSpPr txBox="1"/>
          <p:nvPr/>
        </p:nvSpPr>
        <p:spPr>
          <a:xfrm>
            <a:off x="777240" y="196596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Integrated H-bridge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Integrated protection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Current sensing (stepper)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High-side gate driving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Adaptive dead-time</a:t>
            </a:r>
            <a:endParaRPr lang="en-US" sz="1400" dirty="0"/>
          </a:p>
        </p:txBody>
      </p:sp>
      <p:sp>
        <p:nvSpPr>
          <p:cNvPr id="6" name="card-156"/>
          <p:cNvSpPr/>
          <p:nvPr/>
        </p:nvSpPr>
        <p:spPr>
          <a:xfrm>
            <a:off x="4297680" y="132588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BECE9"/>
          </a:solidFill>
          <a:ln w="9525">
            <a:solidFill>
              <a:srgbClr val="FBECE9"/>
            </a:solidFill>
            <a:prstDash val="solid"/>
          </a:ln>
        </p:spPr>
      </p:sp>
      <p:sp>
        <p:nvSpPr>
          <p:cNvPr id="7" name="text-157"/>
          <p:cNvSpPr txBox="1"/>
          <p:nvPr/>
        </p:nvSpPr>
        <p:spPr>
          <a:xfrm>
            <a:off x="452628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gap</a:t>
            </a:r>
            <a:endParaRPr lang="en-US" sz="1800" dirty="0"/>
          </a:p>
        </p:txBody>
      </p:sp>
      <p:sp>
        <p:nvSpPr>
          <p:cNvPr id="8" name="text-158"/>
          <p:cNvSpPr txBox="1"/>
          <p:nvPr/>
        </p:nvSpPr>
        <p:spPr>
          <a:xfrm>
            <a:off x="4526280" y="196596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Current sensing not combined with adaptive drive control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Adaptive techniques studied separately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Few designs target robotic DC actuators</a:t>
            </a:r>
            <a:endParaRPr lang="en-US" sz="1400" dirty="0"/>
          </a:p>
        </p:txBody>
      </p:sp>
      <p:sp>
        <p:nvSpPr>
          <p:cNvPr id="9" name="card-159"/>
          <p:cNvSpPr/>
          <p:nvPr/>
        </p:nvSpPr>
        <p:spPr>
          <a:xfrm>
            <a:off x="8046720" y="132588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</p:sp>
      <p:sp>
        <p:nvSpPr>
          <p:cNvPr id="10" name="text-160"/>
          <p:cNvSpPr txBox="1"/>
          <p:nvPr/>
        </p:nvSpPr>
        <p:spPr>
          <a:xfrm>
            <a:off x="827532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direction</a:t>
            </a:r>
            <a:endParaRPr lang="en-US" sz="1800" dirty="0"/>
          </a:p>
        </p:txBody>
      </p:sp>
      <p:sp>
        <p:nvSpPr>
          <p:cNvPr id="11" name="text-161"/>
          <p:cNvSpPr txBox="1"/>
          <p:nvPr/>
        </p:nvSpPr>
        <p:spPr>
          <a:xfrm>
            <a:off x="8275320" y="196596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Load-aware adaptive PWM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Integrated current sensing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Dead-time and protection in one hierarchy</a:t>
            </a:r>
            <a:endParaRPr lang="en-US" sz="1400" dirty="0"/>
          </a:p>
        </p:txBody>
      </p:sp>
      <p:sp>
        <p:nvSpPr>
          <p:cNvPr id="12" name="text-162"/>
          <p:cNvSpPr txBox="1"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7280"/>
                </a:solidFill>
              </a:rPr>
              <a:t>Proposed signal chain</a:t>
            </a:r>
            <a:endParaRPr lang="en-US" sz="1500" dirty="0"/>
          </a:p>
        </p:txBody>
      </p:sp>
      <p:sp>
        <p:nvSpPr>
          <p:cNvPr id="13" name="chip-163"/>
          <p:cNvSpPr/>
          <p:nvPr/>
        </p:nvSpPr>
        <p:spPr>
          <a:xfrm>
            <a:off x="548640" y="493776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1B8A8F"/>
          </a:solidFill>
          <a:ln w="6350">
            <a:solidFill>
              <a:srgbClr val="1B8A8F"/>
            </a:solidFill>
            <a:prstDash val="solid"/>
          </a:ln>
        </p:spPr>
      </p:sp>
      <p:sp>
        <p:nvSpPr>
          <p:cNvPr id="14" name="text-164"/>
          <p:cNvSpPr txBox="1"/>
          <p:nvPr/>
        </p:nvSpPr>
        <p:spPr>
          <a:xfrm>
            <a:off x="548640" y="4937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Current sensing</a:t>
            </a:r>
            <a:endParaRPr lang="en-US" sz="1400" dirty="0"/>
          </a:p>
        </p:txBody>
      </p:sp>
      <p:sp>
        <p:nvSpPr>
          <p:cNvPr id="15" name="arrow-165"/>
          <p:cNvSpPr/>
          <p:nvPr/>
        </p:nvSpPr>
        <p:spPr>
          <a:xfrm>
            <a:off x="2377440" y="5138928"/>
            <a:ext cx="365760" cy="292608"/>
          </a:xfrm>
          <a:prstGeom prst="rightArrow">
            <a:avLst/>
          </a:prstGeom>
          <a:solidFill>
            <a:srgbClr val="5F7280"/>
          </a:solidFill>
          <a:ln w="6350">
            <a:solidFill>
              <a:srgbClr val="5F7280"/>
            </a:solidFill>
            <a:prstDash val="solid"/>
          </a:ln>
        </p:spPr>
      </p:sp>
      <p:sp>
        <p:nvSpPr>
          <p:cNvPr id="16" name="chip-166"/>
          <p:cNvSpPr/>
          <p:nvPr/>
        </p:nvSpPr>
        <p:spPr>
          <a:xfrm>
            <a:off x="2788920" y="493776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1B8A8F"/>
          </a:solidFill>
          <a:ln w="6350">
            <a:solidFill>
              <a:srgbClr val="1B8A8F"/>
            </a:solidFill>
            <a:prstDash val="solid"/>
          </a:ln>
        </p:spPr>
      </p:sp>
      <p:sp>
        <p:nvSpPr>
          <p:cNvPr id="17" name="text-167"/>
          <p:cNvSpPr txBox="1"/>
          <p:nvPr/>
        </p:nvSpPr>
        <p:spPr>
          <a:xfrm>
            <a:off x="2788920" y="4937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Load estimation</a:t>
            </a:r>
            <a:endParaRPr lang="en-US" sz="1400" dirty="0"/>
          </a:p>
        </p:txBody>
      </p:sp>
      <p:sp>
        <p:nvSpPr>
          <p:cNvPr id="18" name="arrow-168"/>
          <p:cNvSpPr/>
          <p:nvPr/>
        </p:nvSpPr>
        <p:spPr>
          <a:xfrm>
            <a:off x="4617720" y="5138928"/>
            <a:ext cx="365760" cy="292608"/>
          </a:xfrm>
          <a:prstGeom prst="rightArrow">
            <a:avLst/>
          </a:prstGeom>
          <a:solidFill>
            <a:srgbClr val="5F7280"/>
          </a:solidFill>
          <a:ln w="6350">
            <a:solidFill>
              <a:srgbClr val="5F7280"/>
            </a:solidFill>
            <a:prstDash val="solid"/>
          </a:ln>
        </p:spPr>
      </p:sp>
      <p:sp>
        <p:nvSpPr>
          <p:cNvPr id="19" name="chip-169"/>
          <p:cNvSpPr/>
          <p:nvPr/>
        </p:nvSpPr>
        <p:spPr>
          <a:xfrm>
            <a:off x="5029200" y="493776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F0A33C"/>
          </a:solidFill>
          <a:ln w="6350">
            <a:solidFill>
              <a:srgbClr val="F0A33C"/>
            </a:solidFill>
            <a:prstDash val="solid"/>
          </a:ln>
        </p:spPr>
      </p:sp>
      <p:sp>
        <p:nvSpPr>
          <p:cNvPr id="20" name="text-170"/>
          <p:cNvSpPr txBox="1"/>
          <p:nvPr/>
        </p:nvSpPr>
        <p:spPr>
          <a:xfrm>
            <a:off x="5029200" y="4937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Adaptive PWM</a:t>
            </a:r>
            <a:endParaRPr lang="en-US" sz="1400" dirty="0"/>
          </a:p>
        </p:txBody>
      </p:sp>
      <p:sp>
        <p:nvSpPr>
          <p:cNvPr id="21" name="arrow-171"/>
          <p:cNvSpPr/>
          <p:nvPr/>
        </p:nvSpPr>
        <p:spPr>
          <a:xfrm>
            <a:off x="6858000" y="5138928"/>
            <a:ext cx="365760" cy="292608"/>
          </a:xfrm>
          <a:prstGeom prst="rightArrow">
            <a:avLst/>
          </a:prstGeom>
          <a:solidFill>
            <a:srgbClr val="5F7280"/>
          </a:solidFill>
          <a:ln w="6350">
            <a:solidFill>
              <a:srgbClr val="5F7280"/>
            </a:solidFill>
            <a:prstDash val="solid"/>
          </a:ln>
        </p:spPr>
      </p:sp>
      <p:sp>
        <p:nvSpPr>
          <p:cNvPr id="22" name="chip-172"/>
          <p:cNvSpPr/>
          <p:nvPr/>
        </p:nvSpPr>
        <p:spPr>
          <a:xfrm>
            <a:off x="7269480" y="493776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2F6DB5"/>
          </a:solidFill>
          <a:ln w="6350">
            <a:solidFill>
              <a:srgbClr val="2F6DB5"/>
            </a:solidFill>
            <a:prstDash val="solid"/>
          </a:ln>
        </p:spPr>
      </p:sp>
      <p:sp>
        <p:nvSpPr>
          <p:cNvPr id="23" name="text-173"/>
          <p:cNvSpPr txBox="1"/>
          <p:nvPr/>
        </p:nvSpPr>
        <p:spPr>
          <a:xfrm>
            <a:off x="7269480" y="4937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Gate driver</a:t>
            </a:r>
            <a:endParaRPr lang="en-US" sz="1400" dirty="0"/>
          </a:p>
        </p:txBody>
      </p:sp>
      <p:sp>
        <p:nvSpPr>
          <p:cNvPr id="24" name="arrow-174"/>
          <p:cNvSpPr/>
          <p:nvPr/>
        </p:nvSpPr>
        <p:spPr>
          <a:xfrm>
            <a:off x="9098280" y="5138928"/>
            <a:ext cx="365760" cy="292608"/>
          </a:xfrm>
          <a:prstGeom prst="rightArrow">
            <a:avLst/>
          </a:prstGeom>
          <a:solidFill>
            <a:srgbClr val="5F7280"/>
          </a:solidFill>
          <a:ln w="6350">
            <a:solidFill>
              <a:srgbClr val="5F7280"/>
            </a:solidFill>
            <a:prstDash val="solid"/>
          </a:ln>
        </p:spPr>
      </p:sp>
      <p:sp>
        <p:nvSpPr>
          <p:cNvPr id="25" name="chip-175"/>
          <p:cNvSpPr/>
          <p:nvPr/>
        </p:nvSpPr>
        <p:spPr>
          <a:xfrm>
            <a:off x="9509760" y="493776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2F6DB5"/>
          </a:solidFill>
          <a:ln w="6350">
            <a:solidFill>
              <a:srgbClr val="2F6DB5"/>
            </a:solidFill>
            <a:prstDash val="solid"/>
          </a:ln>
        </p:spPr>
      </p:sp>
      <p:sp>
        <p:nvSpPr>
          <p:cNvPr id="26" name="text-176"/>
          <p:cNvSpPr txBox="1"/>
          <p:nvPr/>
        </p:nvSpPr>
        <p:spPr>
          <a:xfrm>
            <a:off x="9509760" y="4937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H-bridge</a:t>
            </a:r>
            <a:endParaRPr lang="en-US" sz="1400" dirty="0"/>
          </a:p>
        </p:txBody>
      </p:sp>
      <p:sp>
        <p:nvSpPr>
          <p:cNvPr id="27" name="text-177"/>
          <p:cNvSpPr txBox="1"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7280"/>
                </a:solidFill>
              </a:rPr>
              <a:t>Extension based on gaps identified in the five papers reviewed; novelty is claimed only against these.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Proposed architecture and hierarchy</a:t>
            </a:r>
            <a:endParaRPr lang="en-US" sz="3000" dirty="0"/>
          </a:p>
        </p:txBody>
      </p:sp>
      <p:sp>
        <p:nvSpPr>
          <p:cNvPr id="3" name="block-178"/>
          <p:cNvSpPr/>
          <p:nvPr/>
        </p:nvSpPr>
        <p:spPr>
          <a:xfrm>
            <a:off x="548640" y="15544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DF1DC"/>
          </a:solidFill>
          <a:ln w="19050">
            <a:solidFill>
              <a:srgbClr val="F0A33C"/>
            </a:solidFill>
            <a:prstDash val="solid"/>
          </a:ln>
        </p:spPr>
        <p:txBody>
          <a:bodyPr/>
          <a:p/>
        </p:txBody>
      </p:sp>
      <p:sp>
        <p:nvSpPr>
          <p:cNvPr id="4" name="text-179"/>
          <p:cNvSpPr txBox="1"/>
          <p:nvPr/>
        </p:nvSpPr>
        <p:spPr>
          <a:xfrm>
            <a:off x="548640" y="1554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ADAPTIVE_PWM</a:t>
            </a:r>
            <a:endParaRPr lang="en-US" sz="1200" dirty="0"/>
          </a:p>
        </p:txBody>
      </p:sp>
      <p:sp>
        <p:nvSpPr>
          <p:cNvPr id="5" name="block-180"/>
          <p:cNvSpPr/>
          <p:nvPr/>
        </p:nvSpPr>
        <p:spPr>
          <a:xfrm>
            <a:off x="2651760" y="15544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E6EEF8"/>
          </a:solidFill>
          <a:ln w="19050">
            <a:solidFill>
              <a:srgbClr val="2F6DB5"/>
            </a:solidFill>
            <a:prstDash val="solid"/>
          </a:ln>
        </p:spPr>
        <p:txBody>
          <a:bodyPr/>
          <a:p/>
        </p:txBody>
      </p:sp>
      <p:sp>
        <p:nvSpPr>
          <p:cNvPr id="6" name="text-181"/>
          <p:cNvSpPr txBox="1"/>
          <p:nvPr/>
        </p:nvSpPr>
        <p:spPr>
          <a:xfrm>
            <a:off x="2651760" y="1554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GATE_DRIVER</a:t>
            </a:r>
            <a:endParaRPr lang="en-US" sz="1200" dirty="0"/>
          </a:p>
        </p:txBody>
      </p:sp>
      <p:sp>
        <p:nvSpPr>
          <p:cNvPr id="7" name="block-182"/>
          <p:cNvSpPr/>
          <p:nvPr/>
        </p:nvSpPr>
        <p:spPr>
          <a:xfrm>
            <a:off x="4754880" y="15544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E6EEF8"/>
          </a:solidFill>
          <a:ln w="19050">
            <a:solidFill>
              <a:srgbClr val="2F6DB5"/>
            </a:solidFill>
            <a:prstDash val="solid"/>
          </a:ln>
        </p:spPr>
        <p:txBody>
          <a:bodyPr/>
          <a:p/>
        </p:txBody>
      </p:sp>
      <p:sp>
        <p:nvSpPr>
          <p:cNvPr id="8" name="text-183"/>
          <p:cNvSpPr txBox="1"/>
          <p:nvPr/>
        </p:nvSpPr>
        <p:spPr>
          <a:xfrm>
            <a:off x="4754880" y="1554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HBRIDGE</a:t>
            </a:r>
            <a:endParaRPr lang="en-US" sz="1200" dirty="0"/>
          </a:p>
        </p:txBody>
      </p:sp>
      <p:sp>
        <p:nvSpPr>
          <p:cNvPr id="9" name="block-184"/>
          <p:cNvSpPr/>
          <p:nvPr/>
        </p:nvSpPr>
        <p:spPr>
          <a:xfrm>
            <a:off x="6858000" y="15544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EDEFF1"/>
          </a:solidFill>
          <a:ln w="19050">
            <a:solidFill>
              <a:srgbClr val="5F7280"/>
            </a:solidFill>
            <a:prstDash val="solid"/>
          </a:ln>
        </p:spPr>
        <p:txBody>
          <a:bodyPr/>
          <a:p/>
        </p:txBody>
      </p:sp>
      <p:sp>
        <p:nvSpPr>
          <p:cNvPr id="10" name="text-185"/>
          <p:cNvSpPr txBox="1"/>
          <p:nvPr/>
        </p:nvSpPr>
        <p:spPr>
          <a:xfrm>
            <a:off x="6858000" y="1554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MOTOR_MODEL</a:t>
            </a:r>
            <a:endParaRPr lang="en-US" sz="1200" dirty="0"/>
          </a:p>
        </p:txBody>
      </p:sp>
      <p:sp>
        <p:nvSpPr>
          <p:cNvPr id="11" name="block-186"/>
          <p:cNvSpPr/>
          <p:nvPr/>
        </p:nvSpPr>
        <p:spPr>
          <a:xfrm>
            <a:off x="548640" y="38404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BECE9"/>
          </a:solidFill>
          <a:ln w="19050">
            <a:solidFill>
              <a:srgbClr val="C8503F"/>
            </a:solidFill>
            <a:prstDash val="solid"/>
          </a:ln>
        </p:spPr>
        <p:txBody>
          <a:bodyPr/>
          <a:p/>
        </p:txBody>
      </p:sp>
      <p:sp>
        <p:nvSpPr>
          <p:cNvPr id="12" name="text-187"/>
          <p:cNvSpPr txBox="1"/>
          <p:nvPr/>
        </p:nvSpPr>
        <p:spPr>
          <a:xfrm>
            <a:off x="548640" y="3840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FAULT_LOGIC</a:t>
            </a:r>
            <a:endParaRPr lang="en-US" sz="1200" dirty="0"/>
          </a:p>
        </p:txBody>
      </p:sp>
      <p:sp>
        <p:nvSpPr>
          <p:cNvPr id="13" name="block-188"/>
          <p:cNvSpPr/>
          <p:nvPr/>
        </p:nvSpPr>
        <p:spPr>
          <a:xfrm>
            <a:off x="2651760" y="38404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BECE9"/>
          </a:solidFill>
          <a:ln w="19050">
            <a:solidFill>
              <a:srgbClr val="C8503F"/>
            </a:solidFill>
            <a:prstDash val="solid"/>
          </a:ln>
        </p:spPr>
        <p:txBody>
          <a:bodyPr/>
          <a:p/>
        </p:txBody>
      </p:sp>
      <p:sp>
        <p:nvSpPr>
          <p:cNvPr id="14" name="text-189"/>
          <p:cNvSpPr txBox="1"/>
          <p:nvPr/>
        </p:nvSpPr>
        <p:spPr>
          <a:xfrm>
            <a:off x="2651760" y="3840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OC_COMPARATOR</a:t>
            </a:r>
            <a:endParaRPr lang="en-US" sz="1200" dirty="0"/>
          </a:p>
        </p:txBody>
      </p:sp>
      <p:sp>
        <p:nvSpPr>
          <p:cNvPr id="15" name="block-190"/>
          <p:cNvSpPr/>
          <p:nvPr/>
        </p:nvSpPr>
        <p:spPr>
          <a:xfrm>
            <a:off x="4754880" y="38404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E6F4EC"/>
          </a:solidFill>
          <a:ln w="1905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6" name="text-191"/>
          <p:cNvSpPr txBox="1"/>
          <p:nvPr/>
        </p:nvSpPr>
        <p:spPr>
          <a:xfrm>
            <a:off x="4754880" y="3840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SENSE_AMPLIFIER</a:t>
            </a:r>
            <a:endParaRPr lang="en-US" sz="1200" dirty="0"/>
          </a:p>
        </p:txBody>
      </p:sp>
      <p:sp>
        <p:nvSpPr>
          <p:cNvPr id="17" name="block-192"/>
          <p:cNvSpPr/>
          <p:nvPr/>
        </p:nvSpPr>
        <p:spPr>
          <a:xfrm>
            <a:off x="6858000" y="38404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E6F4EC"/>
          </a:solidFill>
          <a:ln w="1905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8" name="text-193"/>
          <p:cNvSpPr txBox="1"/>
          <p:nvPr/>
        </p:nvSpPr>
        <p:spPr>
          <a:xfrm>
            <a:off x="6858000" y="3840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CURRENT_SENSE</a:t>
            </a:r>
            <a:endParaRPr lang="en-US" sz="1200" dirty="0"/>
          </a:p>
        </p:txBody>
      </p:sp>
      <p:sp>
        <p:nvSpPr>
          <p:cNvPr id="19" name="block-194"/>
          <p:cNvSpPr/>
          <p:nvPr/>
        </p:nvSpPr>
        <p:spPr>
          <a:xfrm>
            <a:off x="548640" y="539496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BECE9"/>
          </a:solidFill>
          <a:ln w="19050">
            <a:solidFill>
              <a:srgbClr val="C8503F"/>
            </a:solidFill>
            <a:prstDash val="solid"/>
          </a:ln>
        </p:spPr>
        <p:txBody>
          <a:bodyPr/>
          <a:p/>
        </p:txBody>
      </p:sp>
      <p:sp>
        <p:nvSpPr>
          <p:cNvPr id="20" name="text-195"/>
          <p:cNvSpPr txBox="1"/>
          <p:nvPr/>
        </p:nvSpPr>
        <p:spPr>
          <a:xfrm>
            <a:off x="548640" y="53949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UVLO</a:t>
            </a:r>
            <a:endParaRPr lang="en-US" sz="1200" dirty="0"/>
          </a:p>
        </p:txBody>
      </p:sp>
      <p:sp>
        <p:nvSpPr>
          <p:cNvPr id="21" name="arrow-196"/>
          <p:cNvSpPr/>
          <p:nvPr/>
        </p:nvSpPr>
        <p:spPr>
          <a:xfrm>
            <a:off x="2240280" y="1897380"/>
            <a:ext cx="411480" cy="0"/>
          </a:xfrm>
          <a:prstGeom prst="line">
            <a:avLst/>
          </a:prstGeom>
          <a:noFill/>
          <a:ln w="22225">
            <a:solidFill>
              <a:srgbClr val="0C243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arrow-197"/>
          <p:cNvSpPr/>
          <p:nvPr/>
        </p:nvSpPr>
        <p:spPr>
          <a:xfrm>
            <a:off x="4343400" y="1897380"/>
            <a:ext cx="411480" cy="0"/>
          </a:xfrm>
          <a:prstGeom prst="line">
            <a:avLst/>
          </a:prstGeom>
          <a:noFill/>
          <a:ln w="22225">
            <a:solidFill>
              <a:srgbClr val="0C243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arrow-198"/>
          <p:cNvSpPr/>
          <p:nvPr/>
        </p:nvSpPr>
        <p:spPr>
          <a:xfrm>
            <a:off x="6446520" y="1897380"/>
            <a:ext cx="411480" cy="0"/>
          </a:xfrm>
          <a:prstGeom prst="line">
            <a:avLst/>
          </a:prstGeom>
          <a:noFill/>
          <a:ln w="22225">
            <a:solidFill>
              <a:srgbClr val="0C243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arrow-199"/>
          <p:cNvSpPr/>
          <p:nvPr/>
        </p:nvSpPr>
        <p:spPr>
          <a:xfrm flipH="1">
            <a:off x="6446520" y="4183380"/>
            <a:ext cx="411480" cy="0"/>
          </a:xfrm>
          <a:prstGeom prst="line">
            <a:avLst/>
          </a:prstGeom>
          <a:noFill/>
          <a:ln w="22225">
            <a:solidFill>
              <a:srgbClr val="0C243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arrow-200"/>
          <p:cNvSpPr/>
          <p:nvPr/>
        </p:nvSpPr>
        <p:spPr>
          <a:xfrm flipH="1">
            <a:off x="4343400" y="4183380"/>
            <a:ext cx="411480" cy="0"/>
          </a:xfrm>
          <a:prstGeom prst="line">
            <a:avLst/>
          </a:prstGeom>
          <a:noFill/>
          <a:ln w="22225">
            <a:solidFill>
              <a:srgbClr val="0C243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arrow-201"/>
          <p:cNvSpPr/>
          <p:nvPr/>
        </p:nvSpPr>
        <p:spPr>
          <a:xfrm flipH="1">
            <a:off x="2240280" y="4183380"/>
            <a:ext cx="411480" cy="0"/>
          </a:xfrm>
          <a:prstGeom prst="line">
            <a:avLst/>
          </a:prstGeom>
          <a:noFill/>
          <a:ln w="22225">
            <a:solidFill>
              <a:srgbClr val="0C243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arrow-202"/>
          <p:cNvSpPr/>
          <p:nvPr/>
        </p:nvSpPr>
        <p:spPr>
          <a:xfrm flipV="1">
            <a:off x="1394460" y="4526280"/>
            <a:ext cx="0" cy="868680"/>
          </a:xfrm>
          <a:prstGeom prst="line">
            <a:avLst/>
          </a:prstGeom>
          <a:noFill/>
          <a:ln w="22225">
            <a:solidFill>
              <a:srgbClr val="0C243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wire-203"/>
          <p:cNvSpPr/>
          <p:nvPr/>
        </p:nvSpPr>
        <p:spPr>
          <a:xfrm>
            <a:off x="5852160" y="2240280"/>
            <a:ext cx="0" cy="1005840"/>
          </a:xfrm>
          <a:prstGeom prst="line">
            <a:avLst/>
          </a:prstGeom>
          <a:noFill/>
          <a:ln w="22225">
            <a:solidFill>
              <a:srgbClr val="0C2431"/>
            </a:solidFill>
            <a:prstDash val="solid"/>
          </a:ln>
        </p:spPr>
        <p:txBody>
          <a:bodyPr/>
          <a:p/>
        </p:txBody>
      </p:sp>
      <p:sp>
        <p:nvSpPr>
          <p:cNvPr id="29" name="wire-204"/>
          <p:cNvSpPr/>
          <p:nvPr/>
        </p:nvSpPr>
        <p:spPr>
          <a:xfrm>
            <a:off x="5852160" y="3246120"/>
            <a:ext cx="1851660" cy="0"/>
          </a:xfrm>
          <a:prstGeom prst="line">
            <a:avLst/>
          </a:prstGeom>
          <a:noFill/>
          <a:ln w="22225">
            <a:solidFill>
              <a:srgbClr val="0C2431"/>
            </a:solidFill>
            <a:prstDash val="solid"/>
          </a:ln>
        </p:spPr>
        <p:txBody>
          <a:bodyPr/>
          <a:p/>
        </p:txBody>
      </p:sp>
      <p:sp>
        <p:nvSpPr>
          <p:cNvPr id="30" name="arrow-205"/>
          <p:cNvSpPr/>
          <p:nvPr/>
        </p:nvSpPr>
        <p:spPr>
          <a:xfrm>
            <a:off x="7703820" y="3246120"/>
            <a:ext cx="0" cy="594360"/>
          </a:xfrm>
          <a:prstGeom prst="line">
            <a:avLst/>
          </a:prstGeom>
          <a:noFill/>
          <a:ln w="22225">
            <a:solidFill>
              <a:srgbClr val="0C243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text-206"/>
          <p:cNvSpPr txBox="1"/>
          <p:nvPr/>
        </p:nvSpPr>
        <p:spPr>
          <a:xfrm>
            <a:off x="630936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7280"/>
                </a:solidFill>
              </a:rPr>
              <a:t>return current (GND = I_IN+)</a:t>
            </a:r>
            <a:endParaRPr lang="en-US" sz="1100" dirty="0"/>
          </a:p>
        </p:txBody>
      </p:sp>
      <p:sp>
        <p:nvSpPr>
          <p:cNvPr id="32" name="wire-207"/>
          <p:cNvSpPr/>
          <p:nvPr/>
        </p:nvSpPr>
        <p:spPr>
          <a:xfrm flipV="1">
            <a:off x="5212080" y="2788920"/>
            <a:ext cx="0" cy="1051560"/>
          </a:xfrm>
          <a:prstGeom prst="line">
            <a:avLst/>
          </a:prstGeom>
          <a:noFill/>
          <a:ln w="22225">
            <a:solidFill>
              <a:srgbClr val="0C2431"/>
            </a:solidFill>
            <a:prstDash val="solid"/>
          </a:ln>
        </p:spPr>
        <p:txBody>
          <a:bodyPr/>
          <a:p/>
        </p:txBody>
      </p:sp>
      <p:sp>
        <p:nvSpPr>
          <p:cNvPr id="33" name="wire-208"/>
          <p:cNvSpPr/>
          <p:nvPr/>
        </p:nvSpPr>
        <p:spPr>
          <a:xfrm flipH="1">
            <a:off x="1920240" y="2788920"/>
            <a:ext cx="3291840" cy="0"/>
          </a:xfrm>
          <a:prstGeom prst="line">
            <a:avLst/>
          </a:prstGeom>
          <a:noFill/>
          <a:ln w="22225">
            <a:solidFill>
              <a:srgbClr val="0C2431"/>
            </a:solidFill>
            <a:prstDash val="solid"/>
          </a:ln>
        </p:spPr>
        <p:txBody>
          <a:bodyPr/>
          <a:p/>
        </p:txBody>
      </p:sp>
      <p:sp>
        <p:nvSpPr>
          <p:cNvPr id="34" name="arrow-209"/>
          <p:cNvSpPr/>
          <p:nvPr/>
        </p:nvSpPr>
        <p:spPr>
          <a:xfrm flipV="1">
            <a:off x="1920240" y="2240280"/>
            <a:ext cx="0" cy="548640"/>
          </a:xfrm>
          <a:prstGeom prst="line">
            <a:avLst/>
          </a:prstGeom>
          <a:noFill/>
          <a:ln w="22225">
            <a:solidFill>
              <a:srgbClr val="0C243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text-210"/>
          <p:cNvSpPr txBox="1"/>
          <p:nvPr/>
        </p:nvSpPr>
        <p:spPr>
          <a:xfrm>
            <a:off x="274320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7280"/>
                </a:solidFill>
              </a:rPr>
              <a:t>VSENSE_AMP feedback</a:t>
            </a:r>
            <a:endParaRPr lang="en-US" sz="1100" dirty="0"/>
          </a:p>
        </p:txBody>
      </p:sp>
      <p:sp>
        <p:nvSpPr>
          <p:cNvPr id="36" name="arrow-211"/>
          <p:cNvSpPr/>
          <p:nvPr/>
        </p:nvSpPr>
        <p:spPr>
          <a:xfrm flipV="1">
            <a:off x="960120" y="2240280"/>
            <a:ext cx="0" cy="1600200"/>
          </a:xfrm>
          <a:prstGeom prst="line">
            <a:avLst/>
          </a:prstGeom>
          <a:noFill/>
          <a:ln w="22225">
            <a:solidFill>
              <a:srgbClr val="C8503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text-212"/>
          <p:cNvSpPr txBox="1"/>
          <p:nvPr/>
        </p:nvSpPr>
        <p:spPr>
          <a:xfrm>
            <a:off x="91440" y="28346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8503F"/>
                </a:solidFill>
              </a:rPr>
              <a:t>FAULT, DRIVER_EN</a:t>
            </a:r>
            <a:endParaRPr lang="en-US" sz="1100" dirty="0"/>
          </a:p>
        </p:txBody>
      </p:sp>
      <p:sp>
        <p:nvSpPr>
          <p:cNvPr id="38" name="text-213"/>
          <p:cNvSpPr txBox="1"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7280"/>
                </a:solidFill>
              </a:rPr>
              <a:t>Conceptual: DUTY_CMD, RAMP, DIR, DRIVER_EN, RESET in; FAULT_OUT, I_SENSE_OUT out</a:t>
            </a:r>
            <a:endParaRPr lang="en-US" sz="1200" dirty="0"/>
          </a:p>
        </p:txBody>
      </p:sp>
      <p:sp>
        <p:nvSpPr>
          <p:cNvPr id="39" name="legend-214"/>
          <p:cNvSpPr/>
          <p:nvPr/>
        </p:nvSpPr>
        <p:spPr>
          <a:xfrm>
            <a:off x="2743200" y="5577840"/>
            <a:ext cx="164592" cy="164592"/>
          </a:xfrm>
          <a:prstGeom prst="ellipse">
            <a:avLst/>
          </a:prstGeom>
          <a:solidFill>
            <a:srgbClr val="F0A33C"/>
          </a:solidFill>
          <a:ln w="6350">
            <a:solidFill>
              <a:srgbClr val="F0A33C"/>
            </a:solidFill>
            <a:prstDash val="solid"/>
          </a:ln>
        </p:spPr>
        <p:txBody>
          <a:bodyPr/>
          <a:p/>
        </p:txBody>
      </p:sp>
      <p:sp>
        <p:nvSpPr>
          <p:cNvPr id="40" name="text-215"/>
          <p:cNvSpPr txBox="1"/>
          <p:nvPr/>
        </p:nvSpPr>
        <p:spPr>
          <a:xfrm>
            <a:off x="2971800" y="5513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280"/>
                </a:solidFill>
              </a:rPr>
              <a:t>Control</a:t>
            </a:r>
            <a:endParaRPr lang="en-US" sz="1200" dirty="0"/>
          </a:p>
        </p:txBody>
      </p:sp>
      <p:sp>
        <p:nvSpPr>
          <p:cNvPr id="41" name="legend-216"/>
          <p:cNvSpPr/>
          <p:nvPr/>
        </p:nvSpPr>
        <p:spPr>
          <a:xfrm>
            <a:off x="4114800" y="5577840"/>
            <a:ext cx="164592" cy="164592"/>
          </a:xfrm>
          <a:prstGeom prst="ellipse">
            <a:avLst/>
          </a:prstGeom>
          <a:solidFill>
            <a:srgbClr val="2F6DB5"/>
          </a:solidFill>
          <a:ln w="6350">
            <a:solidFill>
              <a:srgbClr val="2F6DB5"/>
            </a:solidFill>
            <a:prstDash val="solid"/>
          </a:ln>
        </p:spPr>
        <p:txBody>
          <a:bodyPr/>
          <a:p/>
        </p:txBody>
      </p:sp>
      <p:sp>
        <p:nvSpPr>
          <p:cNvPr id="42" name="text-217"/>
          <p:cNvSpPr txBox="1"/>
          <p:nvPr/>
        </p:nvSpPr>
        <p:spPr>
          <a:xfrm>
            <a:off x="4343400" y="5513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280"/>
                </a:solidFill>
              </a:rPr>
              <a:t>Drive</a:t>
            </a:r>
            <a:endParaRPr lang="en-US" sz="1200" dirty="0"/>
          </a:p>
        </p:txBody>
      </p:sp>
      <p:sp>
        <p:nvSpPr>
          <p:cNvPr id="43" name="legend-218"/>
          <p:cNvSpPr/>
          <p:nvPr/>
        </p:nvSpPr>
        <p:spPr>
          <a:xfrm>
            <a:off x="5486400" y="5577840"/>
            <a:ext cx="164592" cy="164592"/>
          </a:xfrm>
          <a:prstGeom prst="ellipse">
            <a:avLst/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44" name="text-219"/>
          <p:cNvSpPr txBox="1"/>
          <p:nvPr/>
        </p:nvSpPr>
        <p:spPr>
          <a:xfrm>
            <a:off x="5715000" y="5513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280"/>
                </a:solidFill>
              </a:rPr>
              <a:t>Sensing</a:t>
            </a:r>
            <a:endParaRPr lang="en-US" sz="1200" dirty="0"/>
          </a:p>
        </p:txBody>
      </p:sp>
      <p:sp>
        <p:nvSpPr>
          <p:cNvPr id="45" name="legend-220"/>
          <p:cNvSpPr/>
          <p:nvPr/>
        </p:nvSpPr>
        <p:spPr>
          <a:xfrm>
            <a:off x="6858000" y="5577840"/>
            <a:ext cx="164592" cy="164592"/>
          </a:xfrm>
          <a:prstGeom prst="ellipse">
            <a:avLst/>
          </a:prstGeom>
          <a:solidFill>
            <a:srgbClr val="C8503F"/>
          </a:solidFill>
          <a:ln w="6350">
            <a:solidFill>
              <a:srgbClr val="C8503F"/>
            </a:solidFill>
            <a:prstDash val="solid"/>
          </a:ln>
        </p:spPr>
        <p:txBody>
          <a:bodyPr/>
          <a:p/>
        </p:txBody>
      </p:sp>
      <p:sp>
        <p:nvSpPr>
          <p:cNvPr id="46" name="text-221"/>
          <p:cNvSpPr txBox="1"/>
          <p:nvPr/>
        </p:nvSpPr>
        <p:spPr>
          <a:xfrm>
            <a:off x="7086600" y="5513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280"/>
                </a:solidFill>
              </a:rPr>
              <a:t>Protection</a:t>
            </a:r>
            <a:endParaRPr lang="en-US" sz="1200" dirty="0"/>
          </a:p>
        </p:txBody>
      </p:sp>
      <p:sp>
        <p:nvSpPr>
          <p:cNvPr id="47" name="card-222"/>
          <p:cNvSpPr/>
          <p:nvPr/>
        </p:nvSpPr>
        <p:spPr>
          <a:xfrm>
            <a:off x="8915400" y="1325880"/>
            <a:ext cx="2697480" cy="4892040"/>
          </a:xfrm>
          <a:prstGeom prst="roundRect">
            <a:avLst>
              <a:gd name="adj" fmla="val 2712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48" name="text-223"/>
          <p:cNvSpPr txBox="1"/>
          <p:nvPr/>
        </p:nvSpPr>
        <p:spPr>
          <a:xfrm>
            <a:off x="91440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Hierarchy</a:t>
            </a:r>
            <a:endParaRPr lang="en-US" sz="1800" dirty="0"/>
          </a:p>
        </p:txBody>
      </p:sp>
      <p:sp>
        <p:nvSpPr>
          <p:cNvPr id="49" name="legend-224"/>
          <p:cNvSpPr/>
          <p:nvPr/>
        </p:nvSpPr>
        <p:spPr>
          <a:xfrm>
            <a:off x="9144000" y="2029968"/>
            <a:ext cx="146304" cy="146304"/>
          </a:xfrm>
          <a:prstGeom prst="ellipse">
            <a:avLst/>
          </a:prstGeom>
          <a:solidFill>
            <a:srgbClr val="2F6DB5"/>
          </a:solidFill>
          <a:ln w="6350">
            <a:solidFill>
              <a:srgbClr val="2F6DB5"/>
            </a:solidFill>
            <a:prstDash val="solid"/>
          </a:ln>
        </p:spPr>
        <p:txBody>
          <a:bodyPr/>
          <a:p/>
        </p:txBody>
      </p:sp>
      <p:sp>
        <p:nvSpPr>
          <p:cNvPr id="50" name="text-225"/>
          <p:cNvSpPr txBox="1"/>
          <p:nvPr/>
        </p:nvSpPr>
        <p:spPr>
          <a:xfrm>
            <a:off x="9400032" y="19568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HBRIDGE</a:t>
            </a:r>
            <a:endParaRPr lang="en-US" sz="1200" dirty="0"/>
          </a:p>
        </p:txBody>
      </p:sp>
      <p:sp>
        <p:nvSpPr>
          <p:cNvPr id="51" name="legend-226"/>
          <p:cNvSpPr/>
          <p:nvPr/>
        </p:nvSpPr>
        <p:spPr>
          <a:xfrm>
            <a:off x="9144000" y="2432304"/>
            <a:ext cx="146304" cy="146304"/>
          </a:xfrm>
          <a:prstGeom prst="ellipse">
            <a:avLst/>
          </a:prstGeom>
          <a:solidFill>
            <a:srgbClr val="5F7280"/>
          </a:solidFill>
          <a:ln w="6350">
            <a:solidFill>
              <a:srgbClr val="5F7280"/>
            </a:solidFill>
            <a:prstDash val="solid"/>
          </a:ln>
        </p:spPr>
        <p:txBody>
          <a:bodyPr/>
          <a:p/>
        </p:txBody>
      </p:sp>
      <p:sp>
        <p:nvSpPr>
          <p:cNvPr id="52" name="text-227"/>
          <p:cNvSpPr txBox="1"/>
          <p:nvPr/>
        </p:nvSpPr>
        <p:spPr>
          <a:xfrm>
            <a:off x="9400032" y="23591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MOTOR_MODEL</a:t>
            </a:r>
            <a:endParaRPr lang="en-US" sz="1200" dirty="0"/>
          </a:p>
        </p:txBody>
      </p:sp>
      <p:sp>
        <p:nvSpPr>
          <p:cNvPr id="53" name="legend-228"/>
          <p:cNvSpPr/>
          <p:nvPr/>
        </p:nvSpPr>
        <p:spPr>
          <a:xfrm>
            <a:off x="9144000" y="2834640"/>
            <a:ext cx="146304" cy="146304"/>
          </a:xfrm>
          <a:prstGeom prst="ellipse">
            <a:avLst/>
          </a:prstGeom>
          <a:solidFill>
            <a:srgbClr val="2F6DB5"/>
          </a:solidFill>
          <a:ln w="6350">
            <a:solidFill>
              <a:srgbClr val="2F6DB5"/>
            </a:solidFill>
            <a:prstDash val="solid"/>
          </a:ln>
        </p:spPr>
        <p:txBody>
          <a:bodyPr/>
          <a:p/>
        </p:txBody>
      </p:sp>
      <p:sp>
        <p:nvSpPr>
          <p:cNvPr id="54" name="text-229"/>
          <p:cNvSpPr txBox="1"/>
          <p:nvPr/>
        </p:nvSpPr>
        <p:spPr>
          <a:xfrm>
            <a:off x="9400032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GATE_DRIVER</a:t>
            </a:r>
            <a:endParaRPr lang="en-US" sz="1200" dirty="0"/>
          </a:p>
        </p:txBody>
      </p:sp>
      <p:sp>
        <p:nvSpPr>
          <p:cNvPr id="55" name="legend-230"/>
          <p:cNvSpPr/>
          <p:nvPr/>
        </p:nvSpPr>
        <p:spPr>
          <a:xfrm>
            <a:off x="9144000" y="3236976"/>
            <a:ext cx="146304" cy="146304"/>
          </a:xfrm>
          <a:prstGeom prst="ellipse">
            <a:avLst/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56" name="text-231"/>
          <p:cNvSpPr txBox="1"/>
          <p:nvPr/>
        </p:nvSpPr>
        <p:spPr>
          <a:xfrm>
            <a:off x="9400032" y="31638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CURRENT_SENSE</a:t>
            </a:r>
            <a:endParaRPr lang="en-US" sz="1200" dirty="0"/>
          </a:p>
        </p:txBody>
      </p:sp>
      <p:sp>
        <p:nvSpPr>
          <p:cNvPr id="57" name="legend-232"/>
          <p:cNvSpPr/>
          <p:nvPr/>
        </p:nvSpPr>
        <p:spPr>
          <a:xfrm>
            <a:off x="9144000" y="3639312"/>
            <a:ext cx="146304" cy="146304"/>
          </a:xfrm>
          <a:prstGeom prst="ellipse">
            <a:avLst/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58" name="text-233"/>
          <p:cNvSpPr txBox="1"/>
          <p:nvPr/>
        </p:nvSpPr>
        <p:spPr>
          <a:xfrm>
            <a:off x="9400032" y="35661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SENSE_AMPLIFIER</a:t>
            </a:r>
            <a:endParaRPr lang="en-US" sz="1200" dirty="0"/>
          </a:p>
        </p:txBody>
      </p:sp>
      <p:sp>
        <p:nvSpPr>
          <p:cNvPr id="59" name="legend-234"/>
          <p:cNvSpPr/>
          <p:nvPr/>
        </p:nvSpPr>
        <p:spPr>
          <a:xfrm>
            <a:off x="9144000" y="4041648"/>
            <a:ext cx="146304" cy="146304"/>
          </a:xfrm>
          <a:prstGeom prst="ellipse">
            <a:avLst/>
          </a:prstGeom>
          <a:solidFill>
            <a:srgbClr val="C8503F"/>
          </a:solidFill>
          <a:ln w="6350">
            <a:solidFill>
              <a:srgbClr val="C8503F"/>
            </a:solidFill>
            <a:prstDash val="solid"/>
          </a:ln>
        </p:spPr>
        <p:txBody>
          <a:bodyPr/>
          <a:p/>
        </p:txBody>
      </p:sp>
      <p:sp>
        <p:nvSpPr>
          <p:cNvPr id="60" name="text-235"/>
          <p:cNvSpPr txBox="1"/>
          <p:nvPr/>
        </p:nvSpPr>
        <p:spPr>
          <a:xfrm>
            <a:off x="9400032" y="39684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OC_COMPARATOR</a:t>
            </a:r>
            <a:endParaRPr lang="en-US" sz="1200" dirty="0"/>
          </a:p>
        </p:txBody>
      </p:sp>
      <p:sp>
        <p:nvSpPr>
          <p:cNvPr id="61" name="legend-236"/>
          <p:cNvSpPr/>
          <p:nvPr/>
        </p:nvSpPr>
        <p:spPr>
          <a:xfrm>
            <a:off x="9144000" y="4443984"/>
            <a:ext cx="146304" cy="146304"/>
          </a:xfrm>
          <a:prstGeom prst="ellipse">
            <a:avLst/>
          </a:prstGeom>
          <a:solidFill>
            <a:srgbClr val="C8503F"/>
          </a:solidFill>
          <a:ln w="6350">
            <a:solidFill>
              <a:srgbClr val="C8503F"/>
            </a:solidFill>
            <a:prstDash val="solid"/>
          </a:ln>
        </p:spPr>
        <p:txBody>
          <a:bodyPr/>
          <a:p/>
        </p:txBody>
      </p:sp>
      <p:sp>
        <p:nvSpPr>
          <p:cNvPr id="62" name="text-237"/>
          <p:cNvSpPr txBox="1"/>
          <p:nvPr/>
        </p:nvSpPr>
        <p:spPr>
          <a:xfrm>
            <a:off x="9400032" y="43708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UVLO</a:t>
            </a:r>
            <a:endParaRPr lang="en-US" sz="1200" dirty="0"/>
          </a:p>
        </p:txBody>
      </p:sp>
      <p:sp>
        <p:nvSpPr>
          <p:cNvPr id="63" name="legend-238"/>
          <p:cNvSpPr/>
          <p:nvPr/>
        </p:nvSpPr>
        <p:spPr>
          <a:xfrm>
            <a:off x="9144000" y="4846320"/>
            <a:ext cx="146304" cy="146304"/>
          </a:xfrm>
          <a:prstGeom prst="ellipse">
            <a:avLst/>
          </a:prstGeom>
          <a:solidFill>
            <a:srgbClr val="C8503F"/>
          </a:solidFill>
          <a:ln w="6350">
            <a:solidFill>
              <a:srgbClr val="C8503F"/>
            </a:solidFill>
            <a:prstDash val="solid"/>
          </a:ln>
        </p:spPr>
        <p:txBody>
          <a:bodyPr/>
          <a:p/>
        </p:txBody>
      </p:sp>
      <p:sp>
        <p:nvSpPr>
          <p:cNvPr id="64" name="text-239"/>
          <p:cNvSpPr txBox="1"/>
          <p:nvPr/>
        </p:nvSpPr>
        <p:spPr>
          <a:xfrm>
            <a:off x="9400032" y="47731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FAULT_LOGIC</a:t>
            </a:r>
            <a:endParaRPr lang="en-US" sz="1200" dirty="0"/>
          </a:p>
        </p:txBody>
      </p:sp>
      <p:sp>
        <p:nvSpPr>
          <p:cNvPr id="65" name="legend-240"/>
          <p:cNvSpPr/>
          <p:nvPr/>
        </p:nvSpPr>
        <p:spPr>
          <a:xfrm>
            <a:off x="9144000" y="5248656"/>
            <a:ext cx="146304" cy="146304"/>
          </a:xfrm>
          <a:prstGeom prst="ellipse">
            <a:avLst/>
          </a:prstGeom>
          <a:solidFill>
            <a:srgbClr val="F0A33C"/>
          </a:solidFill>
          <a:ln w="6350">
            <a:solidFill>
              <a:srgbClr val="F0A33C"/>
            </a:solidFill>
            <a:prstDash val="solid"/>
          </a:ln>
        </p:spPr>
        <p:txBody>
          <a:bodyPr/>
          <a:p/>
        </p:txBody>
      </p:sp>
      <p:sp>
        <p:nvSpPr>
          <p:cNvPr id="66" name="text-241"/>
          <p:cNvSpPr txBox="1"/>
          <p:nvPr/>
        </p:nvSpPr>
        <p:spPr>
          <a:xfrm>
            <a:off x="9400032" y="51755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ADAPTIVE_PWM</a:t>
            </a:r>
            <a:endParaRPr lang="en-US" sz="1200" dirty="0"/>
          </a:p>
        </p:txBody>
      </p:sp>
      <p:sp>
        <p:nvSpPr>
          <p:cNvPr id="67" name="legend-242"/>
          <p:cNvSpPr/>
          <p:nvPr/>
        </p:nvSpPr>
        <p:spPr>
          <a:xfrm>
            <a:off x="9144000" y="5650992"/>
            <a:ext cx="146304" cy="146304"/>
          </a:xfrm>
          <a:prstGeom prst="ellipse">
            <a:avLst/>
          </a:prstGeom>
          <a:solidFill>
            <a:srgbClr val="7A5BB5"/>
          </a:solidFill>
          <a:ln w="6350">
            <a:solidFill>
              <a:srgbClr val="7A5BB5"/>
            </a:solidFill>
            <a:prstDash val="solid"/>
          </a:ln>
        </p:spPr>
        <p:txBody>
          <a:bodyPr/>
          <a:p/>
        </p:txBody>
      </p:sp>
      <p:sp>
        <p:nvSpPr>
          <p:cNvPr id="68" name="text-243"/>
          <p:cNvSpPr txBox="1"/>
          <p:nvPr/>
        </p:nvSpPr>
        <p:spPr>
          <a:xfrm>
            <a:off x="9400032" y="55778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ADAPTIVE_HBRIDGE_TOP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6949440" y="73152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B45F06"/>
                </a:solidFill>
              </a:rPr>
              <a:t>Conceptual architecture; actual Cadence hierarchy on the next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Actual Cadence hierarchy</a:t>
            </a:r>
          </a:p>
        </p:txBody>
      </p:sp>
      <p:sp>
        <p:nvSpPr>
          <p:cNvPr id="3" name="card-244"/>
          <p:cNvSpPr/>
          <p:nvPr/>
        </p:nvSpPr>
        <p:spPr>
          <a:xfrm>
            <a:off x="548640" y="1280160"/>
            <a:ext cx="69494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3" name="card-244"/>
          <p:cNvSpPr/>
          <p:nvPr/>
        </p:nvSpPr>
        <p:spPr>
          <a:xfrm>
            <a:off x="7680959" y="1280160"/>
            <a:ext cx="39319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5" name="text-246"/>
          <p:cNvSpPr txBox="1"/>
          <p:nvPr/>
        </p:nvSpPr>
        <p:spPr>
          <a:xfrm>
            <a:off x="7863839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7280"/>
                </a:solidFill>
              </a:rPr>
              <a:t>What the hierarchy shows</a:t>
            </a:r>
            <a:endParaRPr lang="en-US" sz="1500" dirty="0"/>
          </a:p>
        </p:txBody>
      </p:sp>
      <p:sp>
        <p:nvSpPr>
          <p:cNvPr id="7" name="text-247"/>
          <p:cNvSpPr txBox="1"/>
          <p:nvPr/>
        </p:nvSpPr>
        <p:spPr>
          <a:xfrm>
            <a:off x="7863839" y="178308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Eight instances sit under Adaptive_HBridge_Top; the other cells are lower-level building blocks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Protection is a wrapper around Bias_Reference, Overcurrent_Protection, Undervoltage_Lockout and Fault_Logic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Bias_Reference appears inside Protection and at top level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Signal path as drawn: Adaptive_PWM, Gate_Driver, HBridge, Motor_Model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Outputs at the top level: FAULT_OUT and I_SENSE_OUT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Over-temperature protection is future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7" name="text-247"/>
          <p:cNvSpPr txBox="1"/>
          <p:nvPr/>
        </p:nvSpPr>
        <p:spPr>
          <a:xfrm>
            <a:off x="777240" y="1417320"/>
            <a:ext cx="65836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I0 Adaptive_PWM: OP_Amp, Comparator, CMOS_Inv, 2 NAND2, input RC networks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I1 Protection: Bias_Reference, Overcurrent_Protection, Undervoltage_Lockout, Fault_Logic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I2 Gate_Driver: 2 Dead_Time (one per leg), 2 Schmitt_Trigger, NAND2, CMOS_Inv, 4 Output_Buffer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I3 Sense_Amplifier: OP_Amp with resistor and capacitor network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I4 HBridge: 2 pmos2v_3 and 2 nmos2v_3 (gpdk090)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I5 Current_Sense: shunt-based current sensing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I6 Motor_Model: R-L motor load model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I7 Bias_Reference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Shared low-level cells: CMOS_Inv, NAND2, NOR2, Schmitt_Trigger, RC_Delay, Comparator, OP_Amp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H-bridge power stage</a:t>
            </a:r>
            <a:endParaRPr lang="en-US" sz="3000" dirty="0"/>
          </a:p>
        </p:txBody>
      </p:sp>
      <p:sp>
        <p:nvSpPr>
          <p:cNvPr id="3" name="card-244"/>
          <p:cNvSpPr/>
          <p:nvPr/>
        </p:nvSpPr>
        <p:spPr>
          <a:xfrm>
            <a:off x="548640" y="1280160"/>
            <a:ext cx="60350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5" name="text-246"/>
          <p:cNvSpPr txBox="1"/>
          <p:nvPr/>
        </p:nvSpPr>
        <p:spPr>
          <a:xfrm>
            <a:off x="6858000" y="1325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7280"/>
                </a:solidFill>
              </a:rPr>
              <a:t>Switch states by mode (gate levels)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9164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82296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GH_A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GL_A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GH_B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GL_B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7" name="text-247"/>
          <p:cNvSpPr txBox="1"/>
          <p:nvPr/>
        </p:nvSpPr>
        <p:spPr>
          <a:xfrm>
            <a:off x="6858000" y="39319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PMOS conducts when its gate is low; NMOS when high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Leg 1: M2 (PMOS) over M0 (NMOS) to OUT1; leg 2: M3 over M1 to OUT2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Never drive GH = 0 with GL = 1 on one leg (shoot-through)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gpdk090 2 V devices, W = 150 nm, L = 280 nm; PMOS bulk to Vdd, NMOS bulk to gnd (confirmed from schematic)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cad-hbridge" descr="hbri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680210"/>
            <a:ext cx="5888736" cy="36804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Gate driver: enable, delay and gate logic</a:t>
            </a:r>
            <a:endParaRPr lang="en-US" sz="3000" dirty="0"/>
          </a:p>
        </p:txBody>
      </p:sp>
      <p:sp>
        <p:nvSpPr>
          <p:cNvPr id="3" name="card-248"/>
          <p:cNvSpPr/>
          <p:nvPr/>
        </p:nvSpPr>
        <p:spPr>
          <a:xfrm>
            <a:off x="548640" y="1280160"/>
            <a:ext cx="81381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5" name="card-250"/>
          <p:cNvSpPr/>
          <p:nvPr/>
        </p:nvSpPr>
        <p:spPr>
          <a:xfrm>
            <a:off x="8869680" y="12801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6" name="text-251"/>
          <p:cNvSpPr txBox="1"/>
          <p:nvPr/>
        </p:nvSpPr>
        <p:spPr>
          <a:xfrm>
            <a:off x="9052560" y="1371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FAULT is inverted and combined with DRIVER_IN in a NAND2</a:t>
            </a:r>
            <a:endParaRPr lang="en-US" sz="1300" dirty="0"/>
          </a:p>
        </p:txBody>
      </p:sp>
      <p:sp>
        <p:nvSpPr>
          <p:cNvPr id="7" name="card-252"/>
          <p:cNvSpPr/>
          <p:nvPr/>
        </p:nvSpPr>
        <p:spPr>
          <a:xfrm>
            <a:off x="8869680" y="26517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8" name="text-253"/>
          <p:cNvSpPr txBox="1"/>
          <p:nvPr/>
        </p:nvSpPr>
        <p:spPr>
          <a:xfrm>
            <a:off x="9052560" y="27432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Dead-time delay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Two RC_Delay cells delay the PWM path to set the dead-time</a:t>
            </a:r>
            <a:endParaRPr lang="en-US" sz="1300" dirty="0"/>
          </a:p>
        </p:txBody>
      </p:sp>
      <p:sp>
        <p:nvSpPr>
          <p:cNvPr id="9" name="card-254"/>
          <p:cNvSpPr/>
          <p:nvPr/>
        </p:nvSpPr>
        <p:spPr>
          <a:xfrm>
            <a:off x="8869680" y="40233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10" name="text-255"/>
          <p:cNvSpPr txBox="1"/>
          <p:nvPr/>
        </p:nvSpPr>
        <p:spPr>
          <a:xfrm>
            <a:off x="9052560" y="41148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Gate logic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Two NAND2 outputs form GH and GL; no level shifter is drawn</a:t>
            </a:r>
            <a:endParaRPr lang="en-US" sz="1300" dirty="0"/>
          </a:p>
        </p:txBody>
      </p:sp>
      <p:sp>
        <p:nvSpPr>
          <p:cNvPr id="11" name="text-256"/>
          <p:cNvSpPr txBox="1"/>
          <p:nvPr/>
        </p:nvSpPr>
        <p:spPr>
          <a:xfrm>
            <a:off x="548640" y="5440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7280"/>
                </a:solidFill>
              </a:rPr>
              <a:t>Dead_Time cell (Cadence), one per leg. Gate_Driver instantiates two of them plus four Output_Buffer cells.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cad-dead" descr="d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410592"/>
            <a:ext cx="7991856" cy="36710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Gate driver: dead-time operation</a:t>
            </a:r>
            <a:endParaRPr lang="en-US" sz="3000" dirty="0"/>
          </a:p>
        </p:txBody>
      </p:sp>
      <p:sp>
        <p:nvSpPr>
          <p:cNvPr id="3" name="card-257"/>
          <p:cNvSpPr/>
          <p:nvPr/>
        </p:nvSpPr>
        <p:spPr>
          <a:xfrm>
            <a:off x="548640" y="1280160"/>
            <a:ext cx="69494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pic>
        <p:nvPicPr>
          <p:cNvPr id="4" name="fig-gatewave-258" descr="Schematic: gatew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65114"/>
            <a:ext cx="6803136" cy="3767853"/>
          </a:xfrm>
          <a:prstGeom prst="rect">
            <a:avLst/>
          </a:prstGeom>
        </p:spPr>
      </p:pic>
      <p:sp>
        <p:nvSpPr>
          <p:cNvPr id="5" name="card-259"/>
          <p:cNvSpPr/>
          <p:nvPr/>
        </p:nvSpPr>
        <p:spPr>
          <a:xfrm>
            <a:off x="7772400" y="1280160"/>
            <a:ext cx="3840480" cy="4937760"/>
          </a:xfrm>
          <a:prstGeom prst="roundRect">
            <a:avLst>
              <a:gd name="adj" fmla="val 1905"/>
            </a:avLst>
          </a:prstGeom>
          <a:solidFill>
            <a:srgbClr val="FDF1DC"/>
          </a:solidFill>
          <a:ln w="9525">
            <a:solidFill>
              <a:srgbClr val="FDF1DC"/>
            </a:solidFill>
            <a:prstDash val="solid"/>
          </a:ln>
        </p:spPr>
        <p:txBody>
          <a:bodyPr/>
          <a:p/>
        </p:txBody>
      </p:sp>
      <p:sp>
        <p:nvSpPr>
          <p:cNvPr id="6" name="text-260"/>
          <p:cNvSpPr txBox="1"/>
          <p:nvPr/>
        </p:nvSpPr>
        <p:spPr>
          <a:xfrm>
            <a:off x="800100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waveform shows</a:t>
            </a:r>
            <a:endParaRPr lang="en-US" sz="1800" dirty="0"/>
          </a:p>
        </p:txBody>
      </p:sp>
      <p:sp>
        <p:nvSpPr>
          <p:cNvPr id="7" name="text-261"/>
          <p:cNvSpPr txBox="1"/>
          <p:nvPr/>
        </p:nvSpPr>
        <p:spPr>
          <a:xfrm>
            <a:off x="8001000" y="1920240"/>
            <a:ext cx="3383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Rising edge: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 side turns off at once; high side turns on after t_d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Falling edge: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 side turns off at once; low side turns on after t_d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GH_A is active-low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because MP1 is a PMOS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Design t_d about 100 ns = 0.69 Rd Cd (10 kOhm, 15 pF)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/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Fixed RC delay, too short to resolve on the 50 us plots; adaptive dead-time (paper 5) is future work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/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949440" y="73152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B45F06"/>
                </a:solidFill>
              </a:rPr>
              <a:t>Conceptual timing diagram of the dead-time scheme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Gate_Driver hierarchy (Cadence)</a:t>
            </a:r>
          </a:p>
        </p:txBody>
      </p:sp>
      <p:sp>
        <p:nvSpPr>
          <p:cNvPr id="3" name="card-244"/>
          <p:cNvSpPr/>
          <p:nvPr/>
        </p:nvSpPr>
        <p:spPr>
          <a:xfrm>
            <a:off x="548640" y="1280160"/>
            <a:ext cx="7680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pic>
        <p:nvPicPr>
          <p:cNvPr id="4" name="cad-gate" descr="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0739"/>
            <a:ext cx="7498080" cy="4396601"/>
          </a:xfrm>
          <a:prstGeom prst="rect">
            <a:avLst/>
          </a:prstGeom>
        </p:spPr>
      </p:pic>
      <p:sp>
        <p:nvSpPr>
          <p:cNvPr id="3" name="card-244"/>
          <p:cNvSpPr/>
          <p:nvPr/>
        </p:nvSpPr>
        <p:spPr>
          <a:xfrm>
            <a:off x="8412480" y="1280160"/>
            <a:ext cx="32004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5" name="text-246"/>
          <p:cNvSpPr txBox="1"/>
          <p:nvPr/>
        </p:nvSpPr>
        <p:spPr>
          <a:xfrm>
            <a:off x="8595359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7280"/>
                </a:solidFill>
              </a:rPr>
              <a:t>As drawn</a:t>
            </a:r>
            <a:endParaRPr lang="en-US" sz="1500" dirty="0"/>
          </a:p>
        </p:txBody>
      </p:sp>
      <p:sp>
        <p:nvSpPr>
          <p:cNvPr id="7" name="text-247"/>
          <p:cNvSpPr txBox="1"/>
          <p:nvPr/>
        </p:nvSpPr>
        <p:spPr>
          <a:xfrm>
            <a:off x="8595359" y="1783080"/>
            <a:ext cx="2834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Two Dead_Time cells, one per leg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Four Output_Buffer cells drive GH_A, GL_A, GH_B, GL_B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Two Schmitt_Trigger cells, a CMOS_Inv and a NAND2 condition the inputs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DRIVER_EN and FAULT enter the gate logic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Current sensing and amplification</a:t>
            </a:r>
            <a:endParaRPr lang="en-US" sz="3000" dirty="0"/>
          </a:p>
        </p:txBody>
      </p:sp>
      <p:sp>
        <p:nvSpPr>
          <p:cNvPr id="3" name="card-262"/>
          <p:cNvSpPr/>
          <p:nvPr/>
        </p:nvSpPr>
        <p:spPr>
          <a:xfrm>
            <a:off x="548640" y="1280160"/>
            <a:ext cx="6309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pic>
        <p:nvPicPr>
          <p:cNvPr id="4" name="fig-csense-263" descr="Schematic: csen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09899"/>
            <a:ext cx="6163056" cy="2706681"/>
          </a:xfrm>
          <a:prstGeom prst="rect">
            <a:avLst/>
          </a:prstGeom>
        </p:spPr>
      </p:pic>
      <p:sp>
        <p:nvSpPr>
          <p:cNvPr id="5" name="card-264"/>
          <p:cNvSpPr/>
          <p:nvPr/>
        </p:nvSpPr>
        <p:spPr>
          <a:xfrm>
            <a:off x="7132320" y="128016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7" name="card-266"/>
          <p:cNvSpPr/>
          <p:nvPr/>
        </p:nvSpPr>
        <p:spPr>
          <a:xfrm>
            <a:off x="548640" y="5074920"/>
            <a:ext cx="6309360" cy="1143000"/>
          </a:xfrm>
          <a:prstGeom prst="roundRect">
            <a:avLst>
              <a:gd name="adj" fmla="val 6400"/>
            </a:avLst>
          </a:prstGeom>
          <a:solidFill>
            <a:srgbClr val="E3F3F3"/>
          </a:solidFill>
          <a:ln w="9525">
            <a:solidFill>
              <a:srgbClr val="E3F3F3"/>
            </a:solidFill>
            <a:prstDash val="solid"/>
          </a:ln>
        </p:spPr>
        <p:txBody>
          <a:bodyPr/>
          <a:p/>
        </p:txBody>
      </p:sp>
      <p:sp>
        <p:nvSpPr>
          <p:cNvPr id="8" name="text-267"/>
          <p:cNvSpPr txBox="1"/>
          <p:nvPr/>
        </p:nvSpPr>
        <p:spPr>
          <a:xfrm>
            <a:off x="777240" y="516636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Current_Sense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Design values: V_SENSE = I x Rs with Rs = 100 mOhm (0.1 V per amp). Shunt loss 0.27 W at 1.65 A. RC filter about 3.4 kHz.</a:t>
            </a:r>
            <a:endParaRPr lang="en-US" sz="1400" dirty="0"/>
          </a:p>
        </p:txBody>
      </p:sp>
      <p:sp>
        <p:nvSpPr>
          <p:cNvPr id="9" name="card-268"/>
          <p:cNvSpPr/>
          <p:nvPr/>
        </p:nvSpPr>
        <p:spPr>
          <a:xfrm>
            <a:off x="7132320" y="5074920"/>
            <a:ext cx="4480560" cy="1143000"/>
          </a:xfrm>
          <a:prstGeom prst="roundRect">
            <a:avLst>
              <a:gd name="adj" fmla="val 6400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  <p:txBody>
          <a:bodyPr/>
          <a:p/>
        </p:txBody>
      </p:sp>
      <p:sp>
        <p:nvSpPr>
          <p:cNvPr id="10" name="text-269"/>
          <p:cNvSpPr txBox="1"/>
          <p:nvPr/>
        </p:nvSpPr>
        <p:spPr>
          <a:xfrm>
            <a:off x="7360920" y="516636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Sense_Amplifier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OP_Amp with RC-filtered inputs and a resistor feedback network that scales the shunt voltage into ISENSE_OUT and the feedback to Adaptive_PWM.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035040" y="73152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B45F06"/>
                </a:solidFill>
              </a:rPr>
              <a:t>Left: Current_Sense concept. Right: Cadence Sense_Amplifier</a:t>
            </a:r>
          </a:p>
        </p:txBody>
      </p:sp>
      <p:pic>
        <p:nvPicPr>
          <p:cNvPr id="27" name="cad-senseamp" descr="sensea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409041"/>
            <a:ext cx="4334256" cy="33083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Overcurrent and undervoltage protection</a:t>
            </a:r>
            <a:endParaRPr lang="en-US" sz="3000" dirty="0"/>
          </a:p>
        </p:txBody>
      </p:sp>
      <p:sp>
        <p:nvSpPr>
          <p:cNvPr id="3" name="card-270"/>
          <p:cNvSpPr/>
          <p:nvPr/>
        </p:nvSpPr>
        <p:spPr>
          <a:xfrm>
            <a:off x="548640" y="128016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5" name="card-272"/>
          <p:cNvSpPr/>
          <p:nvPr/>
        </p:nvSpPr>
        <p:spPr>
          <a:xfrm>
            <a:off x="5943600" y="1280160"/>
            <a:ext cx="56692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7" name="card-274"/>
          <p:cNvSpPr/>
          <p:nvPr/>
        </p:nvSpPr>
        <p:spPr>
          <a:xfrm>
            <a:off x="548640" y="51663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BECE9"/>
          </a:solidFill>
          <a:ln w="9525">
            <a:solidFill>
              <a:srgbClr val="FBECE9"/>
            </a:solidFill>
            <a:prstDash val="solid"/>
          </a:ln>
        </p:spPr>
        <p:txBody>
          <a:bodyPr/>
          <a:p/>
        </p:txBody>
      </p:sp>
      <p:sp>
        <p:nvSpPr>
          <p:cNvPr id="8" name="text-275"/>
          <p:cNvSpPr txBox="1"/>
          <p:nvPr/>
        </p:nvSpPr>
        <p:spPr>
          <a:xfrm>
            <a:off x="777240" y="5212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Overcurrent_Protection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ISENSE and Voc_Ref dividers, Comparator with feedback resistors and Schmitt_Trigger give OC_Raw. The trip level is set by Voc_Ref (design target 1.65 A).</a:t>
            </a:r>
            <a:endParaRPr lang="en-US" sz="1400" dirty="0"/>
          </a:p>
        </p:txBody>
      </p:sp>
      <p:sp>
        <p:nvSpPr>
          <p:cNvPr id="9" name="card-276"/>
          <p:cNvSpPr/>
          <p:nvPr/>
        </p:nvSpPr>
        <p:spPr>
          <a:xfrm>
            <a:off x="5943600" y="516636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FBECE9"/>
          </a:solidFill>
          <a:ln w="9525">
            <a:solidFill>
              <a:srgbClr val="FBECE9"/>
            </a:solidFill>
            <a:prstDash val="solid"/>
          </a:ln>
        </p:spPr>
        <p:txBody>
          <a:bodyPr/>
          <a:p/>
        </p:txBody>
      </p:sp>
      <p:sp>
        <p:nvSpPr>
          <p:cNvPr id="10" name="text-277"/>
          <p:cNvSpPr txBox="1"/>
          <p:nvPr/>
        </p:nvSpPr>
        <p:spPr>
          <a:xfrm>
            <a:off x="6172200" y="52120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Undervoltage_Lockout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Vdd_Sense and Vuv_Ref dividers, Comparator with feedback and Schmitt_Trigger give Uv_Trip. The thresholds are set by the dividers and Vuv_Ref.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pic>
        <p:nvPicPr>
          <p:cNvPr id="26" name="cad-oc" descr="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83" y="1371600"/>
            <a:ext cx="4444409" cy="3474720"/>
          </a:xfrm>
          <a:prstGeom prst="rect">
            <a:avLst/>
          </a:prstGeom>
        </p:spPr>
      </p:pic>
      <p:pic>
        <p:nvPicPr>
          <p:cNvPr id="27" name="cad-uvlo" descr="uv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1383030"/>
            <a:ext cx="5522976" cy="34518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rd-244"/>
          <p:cNvSpPr/>
          <p:nvPr/>
        </p:nvSpPr>
        <p:spPr>
          <a:xfrm>
            <a:off x="548640" y="1280160"/>
            <a:ext cx="67665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Fault logic: latch with RESET</a:t>
            </a:r>
            <a:endParaRPr lang="en-US" sz="3000" dirty="0"/>
          </a:p>
        </p:txBody>
      </p:sp>
      <p:sp>
        <p:nvSpPr>
          <p:cNvPr id="5" name="card-280"/>
          <p:cNvSpPr/>
          <p:nvPr/>
        </p:nvSpPr>
        <p:spPr>
          <a:xfrm>
            <a:off x="7498079" y="1280160"/>
            <a:ext cx="4114800" cy="1554480"/>
          </a:xfrm>
          <a:prstGeom prst="roundRect">
            <a:avLst>
              <a:gd name="adj" fmla="val 4211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6" name="text-281"/>
          <p:cNvSpPr txBox="1"/>
          <p:nvPr/>
        </p:nvSpPr>
        <p:spPr>
          <a:xfrm>
            <a:off x="7680960" y="1371600"/>
            <a:ext cx="37490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</a:t>
            </a:r>
            <a:endParaRPr lang="en-US" sz="1800" dirty="0"/>
          </a:p>
        </p:txBody>
      </p:sp>
      <p:sp>
        <p:nvSpPr>
          <p:cNvPr id="7" name="text-282"/>
          <p:cNvSpPr txBox="1"/>
          <p:nvPr/>
        </p:nvSpPr>
        <p:spPr>
          <a:xfrm>
            <a:off x="7680960" y="1737360"/>
            <a:ext cx="37490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SR-type latch of cross-coupled NOR2 gates: set by OC_Trip or UV_Trip, cleared by RESET</a:t>
            </a:r>
            <a:endParaRPr lang="en-US" sz="1500" dirty="0"/>
          </a:p>
        </p:txBody>
      </p:sp>
      <p:sp>
        <p:nvSpPr>
          <p:cNvPr id="8" name="card-283"/>
          <p:cNvSpPr/>
          <p:nvPr/>
        </p:nvSpPr>
        <p:spPr>
          <a:xfrm>
            <a:off x="7498079" y="2926080"/>
            <a:ext cx="4114800" cy="1554480"/>
          </a:xfrm>
          <a:prstGeom prst="roundRect">
            <a:avLst>
              <a:gd name="adj" fmla="val 4211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9" name="text-284"/>
          <p:cNvSpPr txBox="1"/>
          <p:nvPr/>
        </p:nvSpPr>
        <p:spPr>
          <a:xfrm>
            <a:off x="7680960" y="3017520"/>
            <a:ext cx="37490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and DRIVER_EN</a:t>
            </a:r>
            <a:endParaRPr lang="en-US" sz="1800" dirty="0"/>
          </a:p>
        </p:txBody>
      </p:sp>
      <p:sp>
        <p:nvSpPr>
          <p:cNvPr id="10" name="text-285"/>
          <p:cNvSpPr txBox="1"/>
          <p:nvPr/>
        </p:nvSpPr>
        <p:spPr>
          <a:xfrm>
            <a:off x="7680960" y="3383280"/>
            <a:ext cx="37490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Both enter Gate_Driver; FAULT is gated with DRIVER_IN inside Dead_Time</a:t>
            </a:r>
            <a:endParaRPr lang="en-US" sz="1500" dirty="0"/>
          </a:p>
        </p:txBody>
      </p:sp>
      <p:sp>
        <p:nvSpPr>
          <p:cNvPr id="11" name="card-286"/>
          <p:cNvSpPr/>
          <p:nvPr/>
        </p:nvSpPr>
        <p:spPr>
          <a:xfrm>
            <a:off x="7498079" y="4572000"/>
            <a:ext cx="4114800" cy="1554480"/>
          </a:xfrm>
          <a:prstGeom prst="roundRect">
            <a:avLst>
              <a:gd name="adj" fmla="val 4211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12" name="text-287"/>
          <p:cNvSpPr txBox="1"/>
          <p:nvPr/>
        </p:nvSpPr>
        <p:spPr>
          <a:xfrm>
            <a:off x="7680960" y="4663440"/>
            <a:ext cx="37490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</a:t>
            </a:r>
            <a:endParaRPr lang="en-US" sz="1800" dirty="0"/>
          </a:p>
        </p:txBody>
      </p:sp>
      <p:sp>
        <p:nvSpPr>
          <p:cNvPr id="13" name="text-288"/>
          <p:cNvSpPr txBox="1"/>
          <p:nvPr/>
        </p:nvSpPr>
        <p:spPr>
          <a:xfrm>
            <a:off x="7680960" y="5029200"/>
            <a:ext cx="37490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 the top-level run FAULT_OUT asserts once, about 58 to 62 us, then clears. No OTP input: OTP is future work.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pic>
        <p:nvPicPr>
          <p:cNvPr id="26" name="cad-fault" descr="fa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21504"/>
            <a:ext cx="6583680" cy="34550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Protection wrapper (Cadence)</a:t>
            </a:r>
          </a:p>
        </p:txBody>
      </p:sp>
      <p:sp>
        <p:nvSpPr>
          <p:cNvPr id="3" name="card-244"/>
          <p:cNvSpPr/>
          <p:nvPr/>
        </p:nvSpPr>
        <p:spPr>
          <a:xfrm>
            <a:off x="548640" y="1280160"/>
            <a:ext cx="63093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pic>
        <p:nvPicPr>
          <p:cNvPr id="4" name="cad-prot" descr="p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160" y="1371600"/>
            <a:ext cx="4902318" cy="4754880"/>
          </a:xfrm>
          <a:prstGeom prst="rect">
            <a:avLst/>
          </a:prstGeom>
        </p:spPr>
      </p:pic>
      <p:sp>
        <p:nvSpPr>
          <p:cNvPr id="3" name="card-244"/>
          <p:cNvSpPr/>
          <p:nvPr/>
        </p:nvSpPr>
        <p:spPr>
          <a:xfrm>
            <a:off x="7040880" y="1280160"/>
            <a:ext cx="4571999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5" name="text-246"/>
          <p:cNvSpPr txBox="1"/>
          <p:nvPr/>
        </p:nvSpPr>
        <p:spPr>
          <a:xfrm>
            <a:off x="7223760" y="1371600"/>
            <a:ext cx="42062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7280"/>
                </a:solidFill>
              </a:rPr>
              <a:t>As drawn</a:t>
            </a:r>
            <a:endParaRPr lang="en-US" sz="1500" dirty="0"/>
          </a:p>
        </p:txBody>
      </p:sp>
      <p:sp>
        <p:nvSpPr>
          <p:cNvPr id="7" name="text-247"/>
          <p:cNvSpPr txBox="1"/>
          <p:nvPr/>
        </p:nvSpPr>
        <p:spPr>
          <a:xfrm>
            <a:off x="7223760" y="1783080"/>
            <a:ext cx="4206239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Wraps Bias_Reference, Overcurrent_Protection, Undervoltage_Lockout and Fault_Logic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Inputs: ISENSE, Voc_Ref, Vdd_Sense, Vuv_Ref, RESET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OC_Raw and Uv_Trip feed Fault_Logic; FAULT is the only output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Voc_Ref and Vuv_Ref are the reference inputs that set the trip points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Adaptive_PWM: op-amp stage</a:t>
            </a:r>
            <a:endParaRPr lang="en-US" sz="3000" dirty="0"/>
          </a:p>
        </p:txBody>
      </p:sp>
      <p:sp>
        <p:nvSpPr>
          <p:cNvPr id="3" name="card-289"/>
          <p:cNvSpPr/>
          <p:nvPr/>
        </p:nvSpPr>
        <p:spPr>
          <a:xfrm>
            <a:off x="548640" y="1280160"/>
            <a:ext cx="72237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5" name="card-291"/>
          <p:cNvSpPr/>
          <p:nvPr/>
        </p:nvSpPr>
        <p:spPr>
          <a:xfrm>
            <a:off x="8001000" y="128016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DF1DC"/>
          </a:solidFill>
          <a:ln w="9525">
            <a:solidFill>
              <a:srgbClr val="FDF1DC"/>
            </a:solidFill>
            <a:prstDash val="solid"/>
          </a:ln>
        </p:spPr>
        <p:txBody>
          <a:bodyPr/>
          <a:p/>
        </p:txBody>
      </p:sp>
      <p:sp>
        <p:nvSpPr>
          <p:cNvPr id="6" name="text-292"/>
          <p:cNvSpPr txBox="1"/>
          <p:nvPr/>
        </p:nvSpPr>
        <p:spPr>
          <a:xfrm>
            <a:off x="82296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schematic contains</a:t>
            </a:r>
            <a:endParaRPr lang="en-US" sz="1800" dirty="0"/>
          </a:p>
        </p:txBody>
      </p:sp>
      <p:sp>
        <p:nvSpPr>
          <p:cNvPr id="7" name="text-293"/>
          <p:cNvSpPr txBox="1"/>
          <p:nvPr/>
        </p:nvSpPr>
        <p:spPr>
          <a:xfrm>
            <a:off x="8229600" y="1874520"/>
            <a:ext cx="3200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OP_Amp takes DUTY_CMD (through an RC network) and Vsense (through a resistor); VBP1 and VBP2 are bias pins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/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Its output feeds the Comparator on the next slide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/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The effect on PWM duty is shown in the adaptive-response results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/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cad-pwm-left" descr="pwm_le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56" y="1417320"/>
            <a:ext cx="5596127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Adaptive PWM: modulator and direction steering</a:t>
            </a:r>
            <a:endParaRPr lang="en-US" sz="3000" dirty="0"/>
          </a:p>
        </p:txBody>
      </p:sp>
      <p:sp>
        <p:nvSpPr>
          <p:cNvPr id="3" name="card-294"/>
          <p:cNvSpPr/>
          <p:nvPr/>
        </p:nvSpPr>
        <p:spPr>
          <a:xfrm>
            <a:off x="548640" y="1280160"/>
            <a:ext cx="78638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5" name="card-296"/>
          <p:cNvSpPr/>
          <p:nvPr/>
        </p:nvSpPr>
        <p:spPr>
          <a:xfrm>
            <a:off x="8595360" y="1280160"/>
            <a:ext cx="3017520" cy="3429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pic>
        <p:nvPicPr>
          <p:cNvPr id="6" name="fig-pwmwave-297" descr="Schematic: pwmwa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2127610"/>
            <a:ext cx="2871216" cy="1734099"/>
          </a:xfrm>
          <a:prstGeom prst="rect">
            <a:avLst/>
          </a:prstGeom>
        </p:spPr>
      </p:pic>
      <p:sp>
        <p:nvSpPr>
          <p:cNvPr id="7" name="card-298"/>
          <p:cNvSpPr/>
          <p:nvPr/>
        </p:nvSpPr>
        <p:spPr>
          <a:xfrm>
            <a:off x="548640" y="48920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8" name="text-299"/>
          <p:cNvSpPr txBox="1"/>
          <p:nvPr/>
        </p:nvSpPr>
        <p:spPr>
          <a:xfrm>
            <a:off x="731520" y="498348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A33C"/>
                </a:solidFill>
              </a:rPr>
              <a:t>Modulator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Comparator output sets the effective PWM; ramp in the top-level testbench is 0 to 1 V, 10 us period</a:t>
            </a:r>
            <a:endParaRPr lang="en-US" sz="1400" dirty="0"/>
          </a:p>
        </p:txBody>
      </p:sp>
      <p:sp>
        <p:nvSpPr>
          <p:cNvPr id="9" name="card-300"/>
          <p:cNvSpPr/>
          <p:nvPr/>
        </p:nvSpPr>
        <p:spPr>
          <a:xfrm>
            <a:off x="4297680" y="48920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10" name="text-301"/>
          <p:cNvSpPr txBox="1"/>
          <p:nvPr/>
        </p:nvSpPr>
        <p:spPr>
          <a:xfrm>
            <a:off x="4480560" y="498348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DB5"/>
                </a:solidFill>
              </a:rPr>
              <a:t>Direction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 feeds a CMOS_Inv and two NAND2 gates forming PWM_A and PWM_B</a:t>
            </a:r>
            <a:endParaRPr lang="en-US" sz="1400" dirty="0"/>
          </a:p>
        </p:txBody>
      </p:sp>
      <p:sp>
        <p:nvSpPr>
          <p:cNvPr id="11" name="card-302"/>
          <p:cNvSpPr/>
          <p:nvPr/>
        </p:nvSpPr>
        <p:spPr>
          <a:xfrm>
            <a:off x="8046720" y="48920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12" name="text-303"/>
          <p:cNvSpPr txBox="1"/>
          <p:nvPr/>
        </p:nvSpPr>
        <p:spPr>
          <a:xfrm>
            <a:off x="8229600" y="498348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503F"/>
                </a:solidFill>
              </a:rPr>
              <a:t>Fault disable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Adaptive_PWM has no FAULT or enable port; disabling happens in Gate_Driver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949440" y="73152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B45F06"/>
                </a:solidFill>
              </a:rPr>
              <a:t>Right: conceptual PWM sketch</a:t>
            </a:r>
          </a:p>
        </p:txBody>
      </p:sp>
      <p:pic>
        <p:nvPicPr>
          <p:cNvPr id="28" name="cad-pwm" descr="pw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595" y="1371600"/>
            <a:ext cx="6751929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Top-level integration</a:t>
            </a:r>
            <a:endParaRPr lang="en-US" sz="3000" dirty="0"/>
          </a:p>
        </p:txBody>
      </p:sp>
      <p:sp>
        <p:nvSpPr>
          <p:cNvPr id="3" name="card-304"/>
          <p:cNvSpPr/>
          <p:nvPr/>
        </p:nvSpPr>
        <p:spPr>
          <a:xfrm>
            <a:off x="548640" y="1280160"/>
            <a:ext cx="63093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5" name="text-306"/>
          <p:cNvSpPr txBox="1"/>
          <p:nvPr/>
        </p:nvSpPr>
        <p:spPr>
          <a:xfrm>
            <a:off x="7132320" y="1325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7280"/>
                </a:solidFill>
              </a:rPr>
              <a:t>Top-level ports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691640"/>
          <a:ext cx="4480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input: direction select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DRIVER_EN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input: driver enable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DUTY_CMD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input: analog duty 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input: modulator ramp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input: fault 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Vdd_Sense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input: supply sense for UVLO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7" name="card-307"/>
          <p:cNvSpPr/>
          <p:nvPr/>
        </p:nvSpPr>
        <p:spPr>
          <a:xfrm>
            <a:off x="7132320" y="53492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DF1DC"/>
          </a:solidFill>
          <a:ln w="9525">
            <a:solidFill>
              <a:srgbClr val="FDF1DC"/>
            </a:solidFill>
            <a:prstDash val="solid"/>
          </a:ln>
        </p:spPr>
        <p:txBody>
          <a:bodyPr/>
          <a:p/>
        </p:txBody>
      </p:sp>
      <p:sp>
        <p:nvSpPr>
          <p:cNvPr id="8" name="text-308"/>
          <p:cNvSpPr txBox="1"/>
          <p:nvPr/>
        </p:nvSpPr>
        <p:spPr>
          <a:xfrm>
            <a:off x="7315200" y="53949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Outputs: FAULT_OUT (fault flag) and I_SENSE_OUT (sensed current).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pic>
        <p:nvPicPr>
          <p:cNvPr id="26" name="cad-top" descr="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628321"/>
            <a:ext cx="6163056" cy="414999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Testbench: TB_Adaptive_HBridge_Top</a:t>
            </a:r>
          </a:p>
        </p:txBody>
      </p:sp>
      <p:sp>
        <p:nvSpPr>
          <p:cNvPr id="3" name="card-244"/>
          <p:cNvSpPr/>
          <p:nvPr/>
        </p:nvSpPr>
        <p:spPr>
          <a:xfrm>
            <a:off x="548640" y="1280160"/>
            <a:ext cx="69494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pic>
        <p:nvPicPr>
          <p:cNvPr id="4" name="cad-tb" descr="t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58" y="1371600"/>
            <a:ext cx="6751203" cy="4754880"/>
          </a:xfrm>
          <a:prstGeom prst="rect">
            <a:avLst/>
          </a:prstGeom>
        </p:spPr>
      </p:pic>
      <p:sp>
        <p:nvSpPr>
          <p:cNvPr id="3" name="card-244"/>
          <p:cNvSpPr/>
          <p:nvPr/>
        </p:nvSpPr>
        <p:spPr>
          <a:xfrm>
            <a:off x="7680959" y="1280160"/>
            <a:ext cx="39319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EE4"/>
            </a:solidFill>
            <a:prstDash val="solid"/>
          </a:ln>
        </p:spPr>
        <p:txBody>
          <a:bodyPr/>
          <a:p/>
        </p:txBody>
      </p:sp>
      <p:sp>
        <p:nvSpPr>
          <p:cNvPr id="5" name="text-246"/>
          <p:cNvSpPr txBox="1"/>
          <p:nvPr/>
        </p:nvSpPr>
        <p:spPr>
          <a:xfrm>
            <a:off x="7863839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7280"/>
                </a:solidFill>
              </a:rPr>
              <a:t>Sources as drawn</a:t>
            </a:r>
            <a:endParaRPr lang="en-US" sz="1500" dirty="0"/>
          </a:p>
        </p:txBody>
      </p:sp>
      <p:sp>
        <p:nvSpPr>
          <p:cNvPr id="7" name="text-247"/>
          <p:cNvSpPr txBox="1"/>
          <p:nvPr/>
        </p:nvSpPr>
        <p:spPr>
          <a:xfrm>
            <a:off x="7863839" y="178308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V0: supply, 1.8 V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V1: DIR, 0 V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V2: DRIVER_EN, 1.8 V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V3: DUTY_CMD, DC, about 0.5 V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V4: RAMP, pulse 0 to 1 V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V5: RESET, 1.8 V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V6: Vdd_Sense, 1.8 V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 pF loads on FAULT_OUT and I_SENSE_OUT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Design parameters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126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supply VDD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V (V0, HBridge Vdd)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F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devices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gpdk090 2 V, W = 150 nm, L = 280 nm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F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ramp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1 V, 10 us period (top-level run)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Duty 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DC, about 0.5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F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0.6 A to 1.7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F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Shunt 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mOhm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F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100 ns (0.69 Rd Cd)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Overcurrent 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 V (1.65 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Current-limit knee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F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duty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0-90 %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F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4" name="card-309"/>
          <p:cNvSpPr/>
          <p:nvPr/>
        </p:nvSpPr>
        <p:spPr>
          <a:xfrm>
            <a:off x="6949440" y="1325880"/>
            <a:ext cx="4663440" cy="2286000"/>
          </a:xfrm>
          <a:prstGeom prst="roundRect">
            <a:avLst>
              <a:gd name="adj" fmla="val 3200"/>
            </a:avLst>
          </a:prstGeom>
          <a:solidFill>
            <a:srgbClr val="FDF1DC"/>
          </a:solidFill>
          <a:ln w="9525">
            <a:solidFill>
              <a:srgbClr val="FDF1DC"/>
            </a:solidFill>
            <a:prstDash val="solid"/>
          </a:ln>
        </p:spPr>
        <p:txBody>
          <a:bodyPr/>
          <a:p/>
        </p:txBody>
      </p:sp>
      <p:sp>
        <p:nvSpPr>
          <p:cNvPr id="5" name="text-310"/>
          <p:cNvSpPr txBox="1"/>
          <p:nvPr/>
        </p:nvSpPr>
        <p:spPr>
          <a:xfrm>
            <a:off x="717804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and supply limits</a:t>
            </a:r>
            <a:endParaRPr lang="en-US" sz="1700" dirty="0"/>
          </a:p>
        </p:txBody>
      </p:sp>
      <p:sp>
        <p:nvSpPr>
          <p:cNvPr id="6" name="text-311"/>
          <p:cNvSpPr txBox="1"/>
          <p:nvPr/>
        </p:nvSpPr>
        <p:spPr>
          <a:xfrm>
            <a:off x="7178040" y="1920240"/>
            <a:ext cx="4206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design is simulated with gpdk090 2 V devices at a 1.8 V supply, with motor current up to about 1.7 A. The 1-5 A and 6-24 V range needs high-voltage devices and is future work.</a:t>
            </a:r>
            <a:endParaRPr lang="en-US" sz="1600" dirty="0"/>
          </a:p>
        </p:txBody>
      </p:sp>
      <p:sp>
        <p:nvSpPr>
          <p:cNvPr id="7" name="card-312"/>
          <p:cNvSpPr/>
          <p:nvPr/>
        </p:nvSpPr>
        <p:spPr>
          <a:xfrm>
            <a:off x="6949440" y="3840480"/>
            <a:ext cx="4663440" cy="2286000"/>
          </a:xfrm>
          <a:prstGeom prst="roundRect">
            <a:avLst>
              <a:gd name="adj" fmla="val 3200"/>
            </a:avLst>
          </a:prstGeom>
          <a:solidFill>
            <a:srgbClr val="FDF1DC"/>
          </a:solidFill>
          <a:ln w="9525">
            <a:solidFill>
              <a:srgbClr val="FDF1DC"/>
            </a:solidFill>
            <a:prstDash val="solid"/>
          </a:ln>
        </p:spPr>
        <p:txBody>
          <a:bodyPr/>
          <a:p/>
        </p:txBody>
      </p:sp>
      <p:sp>
        <p:nvSpPr>
          <p:cNvPr id="8" name="text-313"/>
          <p:cNvSpPr txBox="1"/>
          <p:nvPr/>
        </p:nvSpPr>
        <p:spPr>
          <a:xfrm>
            <a:off x="717804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 thresholds</a:t>
            </a:r>
            <a:endParaRPr lang="en-US" sz="1700" dirty="0"/>
          </a:p>
        </p:txBody>
      </p:sp>
      <p:sp>
        <p:nvSpPr>
          <p:cNvPr id="9" name="text-314"/>
          <p:cNvSpPr txBox="1"/>
          <p:nvPr/>
        </p:nvSpPr>
        <p:spPr>
          <a:xfrm>
            <a:off x="7178040" y="4434840"/>
            <a:ext cx="4206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UVLO thresholds (8.0 V fall / 8.5 V rise) belong to the 6-24 V target. The 1.8 V testbench does not exercise them.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gate driver outputs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  <p:pic>
        <p:nvPicPr>
          <p:cNvPr id="26" name="cadence-waveform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675120" cy="3600392"/>
          </a:xfrm>
          <a:prstGeom prst="rect">
            <a:avLst/>
          </a:prstGeom>
        </p:spPr>
      </p:pic>
      <p:sp>
        <p:nvSpPr>
          <p:cNvPr id="27" name="results-heading"/>
          <p:cNvSpPr txBox="1"/>
          <p:nvPr/>
        </p:nvSpPr>
        <p:spPr>
          <a:xfrm>
            <a:off x="7543800" y="1325880"/>
            <a:ext cx="4069079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the waveforms show</a:t>
            </a:r>
          </a:p>
        </p:txBody>
      </p:sp>
      <p:sp>
        <p:nvSpPr>
          <p:cNvPr id="28" name="results-bullets"/>
          <p:cNvSpPr txBox="1"/>
          <p:nvPr/>
        </p:nvSpPr>
        <p:spPr>
          <a:xfrm>
            <a:off x="7543800" y="1709928"/>
            <a:ext cx="4069079" cy="3246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GH_A, GL_A, GH_B and GL_B all swing the full 0 to 1.8 V logic supply</a:t>
            </a:r>
          </a:p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each leg GL is the complement of GH, so the two devices of a leg are driven in opposition</a:t>
            </a:r>
          </a:p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Leg B follows leg A by about 3 us (GH_B first rises near 4.2 us, GH_A near 1.3 us)</a:t>
            </a:r>
          </a:p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Switching period is about 5 us in this 50 us run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300" b="1" i="0" dirty="0">
                <a:solidFill>
                  <a:schemeClr val="tx1"/>
                </a:solidFill>
              </a:rPr>
              <a:t>The 100 ns design dead-time is below the resolution of this plot.</a:t>
            </a:r>
          </a:p>
        </p:txBody>
      </p:sp>
      <p:sp>
        <p:nvSpPr>
          <p:cNvPr id="29" name="result-card"/>
          <p:cNvSpPr/>
          <p:nvPr/>
        </p:nvSpPr>
        <p:spPr>
          <a:xfrm>
            <a:off x="548640" y="5127440"/>
            <a:ext cx="11064240" cy="1136199"/>
          </a:xfrm>
          <a:prstGeom prst="roundRect">
            <a:avLst>
              <a:gd name="adj" fmla="val 6400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sult-card-text"/>
          <p:cNvSpPr txBox="1"/>
          <p:nvPr/>
        </p:nvSpPr>
        <p:spPr>
          <a:xfrm>
            <a:off x="777240" y="5200592"/>
            <a:ext cx="10607040" cy="9898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  </a:t>
            </a:r>
            <a:r>
              <a:rPr lang="en-US" sz="1400" dirty="0">
                <a:solidFill>
                  <a:schemeClr val="tx1"/>
                </a:solidFill>
              </a:rPr>
              <a:t>The Gate_Driver turns the PWM inputs into full-swing GH / GL drive for both H-bridge legs.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top-level testbench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  <p:pic>
        <p:nvPicPr>
          <p:cNvPr id="26" name="cadence-waveform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675120" cy="3600392"/>
          </a:xfrm>
          <a:prstGeom prst="rect">
            <a:avLst/>
          </a:prstGeom>
        </p:spPr>
      </p:pic>
      <p:sp>
        <p:nvSpPr>
          <p:cNvPr id="27" name="results-heading"/>
          <p:cNvSpPr txBox="1"/>
          <p:nvPr/>
        </p:nvSpPr>
        <p:spPr>
          <a:xfrm>
            <a:off x="7543800" y="1325880"/>
            <a:ext cx="4069079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the waveforms show</a:t>
            </a:r>
          </a:p>
        </p:txBody>
      </p:sp>
      <p:sp>
        <p:nvSpPr>
          <p:cNvPr id="28" name="results-bullets"/>
          <p:cNvSpPr txBox="1"/>
          <p:nvPr/>
        </p:nvSpPr>
        <p:spPr>
          <a:xfrm>
            <a:off x="7543800" y="1709928"/>
            <a:ext cx="4069079" cy="3246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RAMP: 0 to 1 V sawtooth, 10 us period</a:t>
            </a:r>
          </a:p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DUTY_CMD: constant, about 0.45 V</a:t>
            </a:r>
          </a:p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ISENSE_OUT: alternates between about 0.6 V and 0.2 V once per PWM cycle, with ripple on both levels</a:t>
            </a:r>
          </a:p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FAULT_OUT: one pulse to about 1 V from about 58 to 62 us, then clears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300" b="1" i="0" dirty="0">
                <a:solidFill>
                  <a:schemeClr val="tx1"/>
                </a:solidFill>
              </a:rPr>
              <a:t>Sensed current follows the PWM cycle; the fault flag asserts once and releases.</a:t>
            </a:r>
          </a:p>
        </p:txBody>
      </p:sp>
      <p:sp>
        <p:nvSpPr>
          <p:cNvPr id="29" name="result-card"/>
          <p:cNvSpPr/>
          <p:nvPr/>
        </p:nvSpPr>
        <p:spPr>
          <a:xfrm>
            <a:off x="548640" y="5127440"/>
            <a:ext cx="11064240" cy="1136199"/>
          </a:xfrm>
          <a:prstGeom prst="roundRect">
            <a:avLst>
              <a:gd name="adj" fmla="val 6400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sult-card-text"/>
          <p:cNvSpPr txBox="1"/>
          <p:nvPr/>
        </p:nvSpPr>
        <p:spPr>
          <a:xfrm>
            <a:off x="777240" y="5200592"/>
            <a:ext cx="10607040" cy="9898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  </a:t>
            </a:r>
            <a:r>
              <a:rPr lang="en-US" sz="1400" dirty="0">
                <a:solidFill>
                  <a:schemeClr val="tx1"/>
                </a:solidFill>
              </a:rPr>
              <a:t>Ramp, duty command, sensing and fault paths run together in the top-level testbench.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PWM duty versus load current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  <p:pic>
        <p:nvPicPr>
          <p:cNvPr id="26" name="cadence-waveform" descr="3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675120" cy="3600392"/>
          </a:xfrm>
          <a:prstGeom prst="rect">
            <a:avLst/>
          </a:prstGeom>
        </p:spPr>
      </p:pic>
      <p:sp>
        <p:nvSpPr>
          <p:cNvPr id="27" name="results-heading"/>
          <p:cNvSpPr txBox="1"/>
          <p:nvPr/>
        </p:nvSpPr>
        <p:spPr>
          <a:xfrm>
            <a:off x="7543800" y="1325880"/>
            <a:ext cx="4069079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the waveforms show</a:t>
            </a:r>
          </a:p>
        </p:txBody>
      </p:sp>
      <p:sp>
        <p:nvSpPr>
          <p:cNvPr id="28" name="results-bullets"/>
          <p:cNvSpPr txBox="1"/>
          <p:nvPr/>
        </p:nvSpPr>
        <p:spPr>
          <a:xfrm>
            <a:off x="7543800" y="1709928"/>
            <a:ext cx="4069079" cy="3246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DUTY_CMD stays fixed at about 0.5 V for the whole 100 us run</a:t>
            </a:r>
          </a:p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MOTOR_CURRENT steps from about 0.6 A to 0.95 A (19 us), 1.7 A (41 us), then back to 0.8 A (80 us)</a:t>
            </a:r>
          </a:p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ISENSE_OUT follows each step: about 0.18 V, 0.4 V, 1.8 V, then 0.4 V</a:t>
            </a:r>
          </a:p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PWM_A and PWM_B high-time falls from roughly 85 % to 35 % of the cycle between 41 and 79 us, then widens again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300" b="1" i="0" dirty="0">
                <a:solidFill>
                  <a:schemeClr val="tx1"/>
                </a:solidFill>
              </a:rPr>
              <a:t>At a fixed duty command, PWM duty drops as sensed current rises.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100" b="0" i="1" dirty="0">
                <a:solidFill>
                  <a:schemeClr val="tx1"/>
                </a:solidFill>
              </a:rPr>
              <a:t>Duty percentages are read from the plot.</a:t>
            </a:r>
          </a:p>
        </p:txBody>
      </p:sp>
      <p:sp>
        <p:nvSpPr>
          <p:cNvPr id="29" name="result-card"/>
          <p:cNvSpPr/>
          <p:nvPr/>
        </p:nvSpPr>
        <p:spPr>
          <a:xfrm>
            <a:off x="548640" y="5127440"/>
            <a:ext cx="11064240" cy="1136199"/>
          </a:xfrm>
          <a:prstGeom prst="roundRect">
            <a:avLst>
              <a:gd name="adj" fmla="val 6400"/>
            </a:avLst>
          </a:prstGeom>
          <a:solidFill>
            <a:srgbClr val="EAF1F4"/>
          </a:solidFill>
          <a:ln w="9525">
            <a:solidFill>
              <a:srgbClr val="D3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sult-card-text"/>
          <p:cNvSpPr txBox="1"/>
          <p:nvPr/>
        </p:nvSpPr>
        <p:spPr>
          <a:xfrm>
            <a:off x="777240" y="5200592"/>
            <a:ext cx="10607040" cy="9898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  </a:t>
            </a:r>
            <a:r>
              <a:rPr lang="en-US" sz="1400" dirty="0">
                <a:solidFill>
                  <a:schemeClr val="tx1"/>
                </a:solidFill>
              </a:rPr>
              <a:t>The loop cuts PWM duty when sensed load current rises and restores it when the load falls: the load-aware behaviour this project adds.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Comparison with previous work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17320"/>
                <a:gridCol w="1417320"/>
                <a:gridCol w="1417320"/>
                <a:gridCol w="1417320"/>
                <a:gridCol w="1417320"/>
                <a:gridCol w="2423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Zhang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Xu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Krenzke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3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um HV CMOS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um CMOS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 um CMOS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um BCD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um BCD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GPDK 90 nm (gpdk090), 2 V devices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BLDC vibration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(general)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2-phase stepper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/ BLDC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robotic actuator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2.5-5.5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36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8-40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 V / 24 V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V (simulated)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FETs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 (1.6 A cont.)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1.7 A (simulated)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+ analog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(Hall)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to 50 kHz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chopping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dead-time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load-adaptive PWM (current feedback)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sensing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cascode mirrors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shunt + amplifier, used for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RC (adaptive: future 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UVLO, OCP, OTP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UVLO, thermal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cross-conduction, short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OCP, UVLO, OTP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cross-interlock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UVLO, OCP, FAULT path (OTP: future 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Robotic DC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  <p:sp>
        <p:nvSpPr>
          <p:cNvPr id="4" name="text-339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7280"/>
                </a:solidFill>
              </a:rPr>
              <a:t>Literature columns as summarized from the papers; the Ours column reflects the simulated design at 1.8 V (gpdk090).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Conclusions and future work</a:t>
            </a:r>
            <a:endParaRPr lang="en-US" sz="3200" dirty="0"/>
          </a:p>
        </p:txBody>
      </p:sp>
      <p:sp>
        <p:nvSpPr>
          <p:cNvPr id="3" name="card-340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123A4D"/>
          </a:solidFill>
          <a:ln w="9525">
            <a:solidFill>
              <a:srgbClr val="2B5568"/>
            </a:solidFill>
            <a:prstDash val="solid"/>
          </a:ln>
        </p:spPr>
        <p:txBody>
          <a:bodyPr/>
          <a:p/>
        </p:txBody>
      </p:sp>
      <p:sp>
        <p:nvSpPr>
          <p:cNvPr id="4" name="text-341"/>
          <p:cNvSpPr txBox="1"/>
          <p:nvPr/>
        </p:nvSpPr>
        <p:spPr>
          <a:xfrm>
            <a:off x="82296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0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5" name="text-342"/>
          <p:cNvSpPr txBox="1"/>
          <p:nvPr/>
        </p:nvSpPr>
        <p:spPr>
          <a:xfrm>
            <a:off x="822960" y="21031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Sensing, control, gate drive and protection are integrated in one Cadence hierarchy of eight instances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Built on Dong et al. 2025: its integrated current sensing is extended to a brushed-DC actuator with load-aware PWM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At a fixed duty command, PWM duty falls from roughly 85 % to 35 % as motor current rises from about 0.95 A to 1.7 A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None of the five reviewed papers combines current sensing with load-adaptive drive</a:t>
            </a:r>
            <a:endParaRPr lang="en-US" sz="1600" dirty="0"/>
          </a:p>
        </p:txBody>
      </p:sp>
      <p:sp>
        <p:nvSpPr>
          <p:cNvPr id="6" name="card-343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123A4D"/>
          </a:solidFill>
          <a:ln w="9525">
            <a:solidFill>
              <a:srgbClr val="2B5568"/>
            </a:solidFill>
            <a:prstDash val="solid"/>
          </a:ln>
        </p:spPr>
        <p:txBody>
          <a:bodyPr/>
          <a:p/>
        </p:txBody>
      </p:sp>
      <p:sp>
        <p:nvSpPr>
          <p:cNvPr id="7" name="text-344"/>
          <p:cNvSpPr txBox="1"/>
          <p:nvPr/>
        </p:nvSpPr>
        <p:spPr>
          <a:xfrm>
            <a:off x="644652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0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8" name="num-345"/>
          <p:cNvSpPr/>
          <p:nvPr/>
        </p:nvSpPr>
        <p:spPr>
          <a:xfrm>
            <a:off x="6446520" y="2194560"/>
            <a:ext cx="411480" cy="411480"/>
          </a:xfrm>
          <a:prstGeom prst="ellipse">
            <a:avLst/>
          </a:prstGeom>
          <a:solidFill>
            <a:srgbClr val="F0A33C"/>
          </a:solidFill>
          <a:ln w="6350">
            <a:solidFill>
              <a:srgbClr val="F0A33C"/>
            </a:solidFill>
            <a:prstDash val="solid"/>
          </a:ln>
        </p:spPr>
        <p:txBody>
          <a:bodyPr/>
          <a:p/>
        </p:txBody>
      </p:sp>
      <p:sp>
        <p:nvSpPr>
          <p:cNvPr id="9" name="text-346"/>
          <p:cNvSpPr txBox="1"/>
          <p:nvPr/>
        </p:nvSpPr>
        <p:spPr>
          <a:xfrm>
            <a:off x="644652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-347"/>
          <p:cNvSpPr txBox="1"/>
          <p:nvPr/>
        </p:nvSpPr>
        <p:spPr>
          <a:xfrm>
            <a:off x="7040880" y="2194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Scale to 1-5 A and 6-24 V (HV devices)</a:t>
            </a:r>
            <a:endParaRPr lang="en-US" sz="1600" dirty="0"/>
          </a:p>
        </p:txBody>
      </p:sp>
      <p:sp>
        <p:nvSpPr>
          <p:cNvPr id="11" name="num-348"/>
          <p:cNvSpPr/>
          <p:nvPr/>
        </p:nvSpPr>
        <p:spPr>
          <a:xfrm>
            <a:off x="6446520" y="2971800"/>
            <a:ext cx="411480" cy="411480"/>
          </a:xfrm>
          <a:prstGeom prst="ellipse">
            <a:avLst/>
          </a:prstGeom>
          <a:solidFill>
            <a:srgbClr val="F0A33C"/>
          </a:solidFill>
          <a:ln w="6350">
            <a:solidFill>
              <a:srgbClr val="F0A33C"/>
            </a:solidFill>
            <a:prstDash val="solid"/>
          </a:ln>
        </p:spPr>
        <p:txBody>
          <a:bodyPr/>
          <a:p/>
        </p:txBody>
      </p:sp>
      <p:sp>
        <p:nvSpPr>
          <p:cNvPr id="12" name="text-349"/>
          <p:cNvSpPr txBox="1"/>
          <p:nvPr/>
        </p:nvSpPr>
        <p:spPr>
          <a:xfrm>
            <a:off x="644652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-350"/>
          <p:cNvSpPr txBox="1"/>
          <p:nvPr/>
        </p:nvSpPr>
        <p:spPr>
          <a:xfrm>
            <a:off x="7040880" y="2971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Adaptive dead-time (paper 5 technique)</a:t>
            </a:r>
            <a:endParaRPr lang="en-US" sz="1600" dirty="0"/>
          </a:p>
        </p:txBody>
      </p:sp>
      <p:sp>
        <p:nvSpPr>
          <p:cNvPr id="14" name="num-351"/>
          <p:cNvSpPr/>
          <p:nvPr/>
        </p:nvSpPr>
        <p:spPr>
          <a:xfrm>
            <a:off x="6446520" y="3749040"/>
            <a:ext cx="411480" cy="411480"/>
          </a:xfrm>
          <a:prstGeom prst="ellipse">
            <a:avLst/>
          </a:prstGeom>
          <a:solidFill>
            <a:srgbClr val="F0A33C"/>
          </a:solidFill>
          <a:ln w="6350">
            <a:solidFill>
              <a:srgbClr val="F0A33C"/>
            </a:solidFill>
            <a:prstDash val="solid"/>
          </a:ln>
        </p:spPr>
        <p:txBody>
          <a:bodyPr/>
          <a:p/>
        </p:txBody>
      </p:sp>
      <p:sp>
        <p:nvSpPr>
          <p:cNvPr id="15" name="text-352"/>
          <p:cNvSpPr txBox="1"/>
          <p:nvPr/>
        </p:nvSpPr>
        <p:spPr>
          <a:xfrm>
            <a:off x="644652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-353"/>
          <p:cNvSpPr txBox="1"/>
          <p:nvPr/>
        </p:nvSpPr>
        <p:spPr>
          <a:xfrm>
            <a:off x="7040880" y="3749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On-chip current sensing (cascode mirrors)</a:t>
            </a:r>
            <a:endParaRPr lang="en-US" sz="1600" dirty="0"/>
          </a:p>
        </p:txBody>
      </p:sp>
      <p:sp>
        <p:nvSpPr>
          <p:cNvPr id="17" name="num-354"/>
          <p:cNvSpPr/>
          <p:nvPr/>
        </p:nvSpPr>
        <p:spPr>
          <a:xfrm>
            <a:off x="6446520" y="4526280"/>
            <a:ext cx="411480" cy="411480"/>
          </a:xfrm>
          <a:prstGeom prst="ellipse">
            <a:avLst/>
          </a:prstGeom>
          <a:solidFill>
            <a:srgbClr val="F0A33C"/>
          </a:solidFill>
          <a:ln w="6350">
            <a:solidFill>
              <a:srgbClr val="F0A33C"/>
            </a:solidFill>
            <a:prstDash val="solid"/>
          </a:ln>
        </p:spPr>
        <p:txBody>
          <a:bodyPr/>
          <a:p/>
        </p:txBody>
      </p:sp>
      <p:sp>
        <p:nvSpPr>
          <p:cNvPr id="18" name="text-355"/>
          <p:cNvSpPr txBox="1"/>
          <p:nvPr/>
        </p:nvSpPr>
        <p:spPr>
          <a:xfrm>
            <a:off x="644652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-356"/>
          <p:cNvSpPr txBox="1"/>
          <p:nvPr/>
        </p:nvSpPr>
        <p:spPr>
          <a:xfrm>
            <a:off x="7040880" y="4526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Over-temperature protection</a:t>
            </a:r>
            <a:endParaRPr lang="en-US" sz="1600" dirty="0"/>
          </a:p>
        </p:txBody>
      </p:sp>
      <p:sp>
        <p:nvSpPr>
          <p:cNvPr id="20" name="num-357"/>
          <p:cNvSpPr/>
          <p:nvPr/>
        </p:nvSpPr>
        <p:spPr>
          <a:xfrm>
            <a:off x="6446520" y="5303520"/>
            <a:ext cx="411480" cy="411480"/>
          </a:xfrm>
          <a:prstGeom prst="ellipse">
            <a:avLst/>
          </a:prstGeom>
          <a:solidFill>
            <a:srgbClr val="F0A33C"/>
          </a:solidFill>
          <a:ln w="6350">
            <a:solidFill>
              <a:srgbClr val="F0A33C"/>
            </a:solidFill>
            <a:prstDash val="solid"/>
          </a:ln>
        </p:spPr>
        <p:txBody>
          <a:bodyPr/>
          <a:p/>
        </p:txBody>
      </p:sp>
      <p:sp>
        <p:nvSpPr>
          <p:cNvPr id="21" name="text-358"/>
          <p:cNvSpPr txBox="1"/>
          <p:nvPr/>
        </p:nvSpPr>
        <p:spPr>
          <a:xfrm>
            <a:off x="6446520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-359"/>
          <p:cNvSpPr txBox="1"/>
          <p:nvPr/>
        </p:nvSpPr>
        <p:spPr>
          <a:xfrm>
            <a:off x="7040880" y="5303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Real motor and robotic load validation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3" name="num-381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C2431"/>
          </a:solidFill>
          <a:ln w="6350">
            <a:solidFill>
              <a:srgbClr val="0C2431"/>
            </a:solidFill>
            <a:prstDash val="solid"/>
          </a:ln>
        </p:spPr>
      </p:sp>
      <p:sp>
        <p:nvSpPr>
          <p:cNvPr id="4" name="text-382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-383"/>
          <p:cNvSpPr txBox="1"/>
          <p:nvPr/>
        </p:nvSpPr>
        <p:spPr>
          <a:xfrm>
            <a:off x="1188720" y="13716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Zhang et al., "Design of Fully-Integrated H-Bridge for DC Motor Driver IC, 0.5-um HV CMOS," 2010.</a:t>
            </a:r>
            <a:endParaRPr lang="en-US" sz="1600" dirty="0"/>
          </a:p>
        </p:txBody>
      </p:sp>
      <p:sp>
        <p:nvSpPr>
          <p:cNvPr id="6" name="num-384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0C2431"/>
          </a:solidFill>
          <a:ln w="6350">
            <a:solidFill>
              <a:srgbClr val="0C2431"/>
            </a:solidFill>
            <a:prstDash val="solid"/>
          </a:ln>
        </p:spPr>
      </p:sp>
      <p:sp>
        <p:nvSpPr>
          <p:cNvPr id="7" name="text-385"/>
          <p:cNvSpPr txBox="1"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-386"/>
          <p:cNvSpPr txBox="1"/>
          <p:nvPr/>
        </p:nvSpPr>
        <p:spPr>
          <a:xfrm>
            <a:off x="1188720" y="23317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Xu et al., "Monolithic H-bridge brushless DC vibration motor driver with a highly sensitive Hall sensor," 2012.</a:t>
            </a:r>
            <a:endParaRPr lang="en-US" sz="1600" dirty="0"/>
          </a:p>
        </p:txBody>
      </p:sp>
      <p:sp>
        <p:nvSpPr>
          <p:cNvPr id="9" name="num-387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0C2431"/>
          </a:solidFill>
          <a:ln w="6350">
            <a:solidFill>
              <a:srgbClr val="0C2431"/>
            </a:solidFill>
            <a:prstDash val="solid"/>
          </a:ln>
        </p:spPr>
      </p:sp>
      <p:sp>
        <p:nvSpPr>
          <p:cNvPr id="10" name="text-388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-389"/>
          <p:cNvSpPr txBox="1"/>
          <p:nvPr/>
        </p:nvSpPr>
        <p:spPr>
          <a:xfrm>
            <a:off x="1188720" y="32918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Krenzke et al., "A 36-V H-bridge driver interface in a standard 0.35-um CMOS process," 2003.</a:t>
            </a:r>
            <a:endParaRPr lang="en-US" sz="1600" dirty="0"/>
          </a:p>
        </p:txBody>
      </p:sp>
      <p:sp>
        <p:nvSpPr>
          <p:cNvPr id="12" name="num-39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0C2431"/>
          </a:solidFill>
          <a:ln w="6350">
            <a:solidFill>
              <a:srgbClr val="0C2431"/>
            </a:solidFill>
            <a:prstDash val="solid"/>
          </a:ln>
        </p:spPr>
      </p:sp>
      <p:sp>
        <p:nvSpPr>
          <p:cNvPr id="13" name="text-391"/>
          <p:cNvSpPr txBox="1"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-392"/>
          <p:cNvSpPr txBox="1"/>
          <p:nvPr/>
        </p:nvSpPr>
        <p:spPr>
          <a:xfrm>
            <a:off x="1188720" y="42519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D. Dong, J. Leng, Z. Li, B. Lei, "A fully integrated stepper motor driver with a novel integrated current sensing technology," IEICE Electronics Express, vol. 22, no. 10, art. 20250071, 2025, doi:10.1587/elex.22.20250071.</a:t>
            </a:r>
            <a:endParaRPr lang="en-US" sz="1600" dirty="0"/>
          </a:p>
        </p:txBody>
      </p:sp>
      <p:sp>
        <p:nvSpPr>
          <p:cNvPr id="15" name="num-393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0C2431"/>
          </a:solidFill>
          <a:ln w="6350">
            <a:solidFill>
              <a:srgbClr val="0C2431"/>
            </a:solidFill>
            <a:prstDash val="solid"/>
          </a:ln>
        </p:spPr>
      </p:sp>
      <p:sp>
        <p:nvSpPr>
          <p:cNvPr id="16" name="text-394"/>
          <p:cNvSpPr txBox="1"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-395"/>
          <p:cNvSpPr txBox="1"/>
          <p:nvPr/>
        </p:nvSpPr>
        <p:spPr>
          <a:xfrm>
            <a:off x="1188720" y="52120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J. He, H. Yu, D. Dong, D. Xie, M. Huang, adaptive dead-time high-side gate driver, Microelectronics Journal, vol. 167, 2026, Art. 106937, doi:10.1016/j.mejo.2025.106937.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Review">
  <a:themeElements>
    <a:clrScheme name="LabReview">
      <a:dk1>
        <a:srgbClr val="0C2431"/>
      </a:dk1>
      <a:lt1>
        <a:srgbClr val="FFFFFF"/>
      </a:lt1>
      <a:dk2>
        <a:srgbClr val="123A4D"/>
      </a:dk2>
      <a:lt2>
        <a:srgbClr val="EAF1F4"/>
      </a:lt2>
      <a:accent1>
        <a:srgbClr val="F0A33C"/>
      </a:accent1>
      <a:accent2>
        <a:srgbClr val="1B8A8F"/>
      </a:accent2>
      <a:accent3>
        <a:srgbClr val="C8503F"/>
      </a:accent3>
      <a:accent4>
        <a:srgbClr val="2F6DB5"/>
      </a:accent4>
      <a:accent5>
        <a:srgbClr val="7A5BB5"/>
      </a:accent5>
      <a:accent6>
        <a:srgbClr val="5F7280"/>
      </a:accent6>
      <a:hlink>
        <a:srgbClr val="2F6DB5"/>
      </a:hlink>
      <a:folHlink>
        <a:srgbClr val="7A5BB5"/>
      </a:folHlink>
    </a:clrScheme>
    <a:fontScheme name="Lab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H-Bridge Motor Driver - Lab Project Review</dc:title>
  <dc:subject>PptxGenJS Presentation</dc:subject>
  <dc:creator>Ashmit Singh</dc:creator>
  <cp:lastModifiedBy>Ashmit Singh</cp:lastModifiedBy>
  <cp:revision>1</cp:revision>
  <dcterms:created xsi:type="dcterms:W3CDTF">2026-10-13T06:32:02Z</dcterms:created>
  <dcterms:modified xsi:type="dcterms:W3CDTF">2026-10-13T06:32:02Z</dcterms:modified>
</cp:coreProperties>
</file>